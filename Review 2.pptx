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4630400" cy="8229600"/>
  <p:notesSz cx="8229600" cy="14630400"/>
  <p:embeddedFontLst>
    <p:embeddedFont>
      <p:font typeface="Hubot Sans"/>
      <p:regular r:id="rId19"/>
    </p:embeddedFont>
    <p:embeddedFont>
      <p:font typeface="Hubot Sans"/>
      <p:regular r:id="rId20"/>
    </p:embeddedFont>
    <p:embeddedFont>
      <p:font typeface="Roboto Condensed"/>
      <p:regular r:id="rId21"/>
    </p:embeddedFont>
    <p:embeddedFont>
      <p:font typeface="Roboto Condensed"/>
      <p:regular r:id="rId22"/>
    </p:embeddedFont>
    <p:embeddedFont>
      <p:font typeface="Roboto Condensed"/>
      <p:regular r:id="rId23"/>
    </p:embeddedFont>
    <p:embeddedFont>
      <p:font typeface="Roboto Condensed"/>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 Id="rId21" Type="http://schemas.openxmlformats.org/officeDocument/2006/relationships/font" Target="fonts/font3.fntdata"/><Relationship Id="rId22" Type="http://schemas.openxmlformats.org/officeDocument/2006/relationships/font" Target="fonts/font4.fntdata"/><Relationship Id="rId23" Type="http://schemas.openxmlformats.org/officeDocument/2006/relationships/font" Target="fonts/font5.fntdata"/><Relationship Id="rId24"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3-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image" Target="../media/image-4-9.png"/><Relationship Id="rId10" Type="http://schemas.openxmlformats.org/officeDocument/2006/relationships/image" Target="../media/image-4-10.svg"/><Relationship Id="rId11" Type="http://schemas.openxmlformats.org/officeDocument/2006/relationships/slideLayout" Target="../slideLayouts/slideLayout5.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6.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8.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3.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900595"/>
            <a:ext cx="7556421" cy="2126337"/>
          </a:xfrm>
          <a:prstGeom prst="rect">
            <a:avLst/>
          </a:prstGeom>
          <a:noFill/>
          <a:ln/>
        </p:spPr>
        <p:txBody>
          <a:bodyPr wrap="square" lIns="0" tIns="0" rIns="0" bIns="0" rtlCol="0" anchor="t"/>
          <a:lstStyle/>
          <a:p>
            <a:pPr algn="l" indent="0" marL="0">
              <a:lnSpc>
                <a:spcPts val="5550"/>
              </a:lnSpc>
              <a:buNone/>
            </a:pPr>
            <a:r>
              <a:rPr lang="en-US" sz="4450" b="1" dirty="0">
                <a:solidFill>
                  <a:srgbClr val="0C0D0F"/>
                </a:solidFill>
                <a:latin typeface="Hubot Sans Bold" pitchFamily="34" charset="0"/>
                <a:ea typeface="Hubot Sans Bold" pitchFamily="34" charset="-122"/>
                <a:cs typeface="Hubot Sans Bold" pitchFamily="34" charset="-120"/>
              </a:rPr>
              <a:t>PERSONAL DATA EXPIRY PIPELINE: DYNAMIC DATA MANAGEMENT</a:t>
            </a:r>
            <a:endParaRPr lang="en-US" sz="4450" dirty="0"/>
          </a:p>
        </p:txBody>
      </p:sp>
      <p:sp>
        <p:nvSpPr>
          <p:cNvPr id="4" name="Text 1"/>
          <p:cNvSpPr/>
          <p:nvPr/>
        </p:nvSpPr>
        <p:spPr>
          <a:xfrm>
            <a:off x="793790" y="4367093"/>
            <a:ext cx="7556421" cy="362903"/>
          </a:xfrm>
          <a:prstGeom prst="rect">
            <a:avLst/>
          </a:prstGeom>
          <a:noFill/>
          <a:ln/>
        </p:spPr>
        <p:txBody>
          <a:bodyPr wrap="none" lIns="0" tIns="0" rIns="0" bIns="0" rtlCol="0" anchor="t"/>
          <a:lstStyle/>
          <a:p>
            <a:pPr algn="l" indent="0" marL="0">
              <a:lnSpc>
                <a:spcPts val="2850"/>
              </a:lnSpc>
              <a:buNone/>
            </a:pPr>
            <a:r>
              <a:rPr lang="en-US" sz="1750" b="1" dirty="0">
                <a:solidFill>
                  <a:srgbClr val="55575A"/>
                </a:solidFill>
                <a:latin typeface="Roboto Condensed" pitchFamily="34" charset="0"/>
                <a:ea typeface="Roboto Condensed" pitchFamily="34" charset="-122"/>
                <a:cs typeface="Roboto Condensed" pitchFamily="34" charset="-120"/>
              </a:rPr>
              <a:t>Course:</a:t>
            </a:r>
            <a:pPr algn="l" indent="0" marL="0">
              <a:lnSpc>
                <a:spcPts val="2850"/>
              </a:lnSpc>
              <a:buNone/>
            </a:pPr>
            <a:r>
              <a:rPr lang="en-US" sz="1750" dirty="0">
                <a:solidFill>
                  <a:srgbClr val="55575A"/>
                </a:solidFill>
                <a:latin typeface="Roboto Condensed" pitchFamily="34" charset="0"/>
                <a:ea typeface="Roboto Condensed" pitchFamily="34" charset="-122"/>
                <a:cs typeface="Roboto Condensed" pitchFamily="34" charset="-120"/>
              </a:rPr>
              <a:t> Advanced Data Engineering (J-Component)</a:t>
            </a:r>
            <a:endParaRPr lang="en-US" sz="1750" dirty="0"/>
          </a:p>
        </p:txBody>
      </p:sp>
      <p:sp>
        <p:nvSpPr>
          <p:cNvPr id="5" name="Text 2"/>
          <p:cNvSpPr/>
          <p:nvPr/>
        </p:nvSpPr>
        <p:spPr>
          <a:xfrm>
            <a:off x="793790" y="4985147"/>
            <a:ext cx="7556421" cy="362903"/>
          </a:xfrm>
          <a:prstGeom prst="rect">
            <a:avLst/>
          </a:prstGeom>
          <a:noFill/>
          <a:ln/>
        </p:spPr>
        <p:txBody>
          <a:bodyPr wrap="none" lIns="0" tIns="0" rIns="0" bIns="0" rtlCol="0" anchor="t"/>
          <a:lstStyle/>
          <a:p>
            <a:pPr algn="l" indent="0" marL="0">
              <a:lnSpc>
                <a:spcPts val="2850"/>
              </a:lnSpc>
              <a:buNone/>
            </a:pPr>
            <a:r>
              <a:rPr lang="en-US" sz="1750" b="1" dirty="0">
                <a:solidFill>
                  <a:srgbClr val="55575A"/>
                </a:solidFill>
                <a:latin typeface="Roboto Condensed" pitchFamily="34" charset="0"/>
                <a:ea typeface="Roboto Condensed" pitchFamily="34" charset="-122"/>
                <a:cs typeface="Roboto Condensed" pitchFamily="34" charset="-120"/>
              </a:rPr>
              <a:t>Faculty:</a:t>
            </a:r>
            <a:pPr algn="l" indent="0" marL="0">
              <a:lnSpc>
                <a:spcPts val="2850"/>
              </a:lnSpc>
              <a:buNone/>
            </a:pPr>
            <a:r>
              <a:rPr lang="en-US" sz="1750" dirty="0">
                <a:solidFill>
                  <a:srgbClr val="55575A"/>
                </a:solidFill>
                <a:latin typeface="Roboto Condensed" pitchFamily="34" charset="0"/>
                <a:ea typeface="Roboto Condensed" pitchFamily="34" charset="-122"/>
                <a:cs typeface="Roboto Condensed" pitchFamily="34" charset="-120"/>
              </a:rPr>
              <a:t> Prof. Siva Kumar V</a:t>
            </a:r>
            <a:endParaRPr lang="en-US" sz="1750" dirty="0"/>
          </a:p>
        </p:txBody>
      </p:sp>
      <p:sp>
        <p:nvSpPr>
          <p:cNvPr id="6" name="Text 3"/>
          <p:cNvSpPr/>
          <p:nvPr/>
        </p:nvSpPr>
        <p:spPr>
          <a:xfrm>
            <a:off x="793790" y="5603200"/>
            <a:ext cx="7556421" cy="725805"/>
          </a:xfrm>
          <a:prstGeom prst="rect">
            <a:avLst/>
          </a:prstGeom>
          <a:noFill/>
          <a:ln/>
        </p:spPr>
        <p:txBody>
          <a:bodyPr wrap="square" lIns="0" tIns="0" rIns="0" bIns="0" rtlCol="0" anchor="t"/>
          <a:lstStyle/>
          <a:p>
            <a:pPr algn="l" indent="0" marL="0">
              <a:lnSpc>
                <a:spcPts val="2850"/>
              </a:lnSpc>
              <a:buNone/>
            </a:pPr>
            <a:r>
              <a:rPr lang="en-US" sz="1750" b="1" dirty="0">
                <a:solidFill>
                  <a:srgbClr val="55575A"/>
                </a:solidFill>
                <a:latin typeface="Roboto Condensed" pitchFamily="34" charset="0"/>
                <a:ea typeface="Roboto Condensed" pitchFamily="34" charset="-122"/>
                <a:cs typeface="Roboto Condensed" pitchFamily="34" charset="-120"/>
              </a:rPr>
              <a:t>Team Members:</a:t>
            </a:r>
            <a:pPr algn="l" indent="0" marL="0">
              <a:lnSpc>
                <a:spcPts val="2850"/>
              </a:lnSpc>
              <a:buNone/>
            </a:pPr>
            <a:r>
              <a:rPr lang="en-US" sz="1750" dirty="0">
                <a:solidFill>
                  <a:srgbClr val="55575A"/>
                </a:solidFill>
                <a:latin typeface="Roboto Condensed" pitchFamily="34" charset="0"/>
                <a:ea typeface="Roboto Condensed" pitchFamily="34" charset="-122"/>
                <a:cs typeface="Roboto Condensed" pitchFamily="34" charset="-120"/>
              </a:rPr>
              <a:t> Koushik J (22MID0235), Siva sharan U (22MID0345), Sushank S N (22MID0348)</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31362" y="683419"/>
            <a:ext cx="7854077" cy="1151811"/>
          </a:xfrm>
          <a:prstGeom prst="rect">
            <a:avLst/>
          </a:prstGeom>
          <a:noFill/>
          <a:ln/>
        </p:spPr>
        <p:txBody>
          <a:bodyPr wrap="square" lIns="0" tIns="0" rIns="0" bIns="0" rtlCol="0" anchor="t"/>
          <a:lstStyle/>
          <a:p>
            <a:pPr algn="l" indent="0" marL="0">
              <a:lnSpc>
                <a:spcPts val="4500"/>
              </a:lnSpc>
              <a:buNone/>
            </a:pPr>
            <a:r>
              <a:rPr lang="en-US" sz="3600" b="1" dirty="0">
                <a:solidFill>
                  <a:srgbClr val="0C0D0F"/>
                </a:solidFill>
                <a:latin typeface="Hubot Sans Bold" pitchFamily="34" charset="0"/>
                <a:ea typeface="Hubot Sans Bold" pitchFamily="34" charset="-122"/>
                <a:cs typeface="Hubot Sans Bold" pitchFamily="34" charset="-120"/>
              </a:rPr>
              <a:t>THE PROBLEM: INDEFINITE DATA RETENTION</a:t>
            </a:r>
            <a:endParaRPr lang="en-US" sz="3600" dirty="0"/>
          </a:p>
        </p:txBody>
      </p:sp>
      <p:sp>
        <p:nvSpPr>
          <p:cNvPr id="4" name="Shape 1"/>
          <p:cNvSpPr/>
          <p:nvPr/>
        </p:nvSpPr>
        <p:spPr>
          <a:xfrm>
            <a:off x="6131362" y="2059781"/>
            <a:ext cx="7854077" cy="1326118"/>
          </a:xfrm>
          <a:prstGeom prst="roundRect">
            <a:avLst>
              <a:gd name="adj" fmla="val 8274"/>
            </a:avLst>
          </a:prstGeom>
          <a:solidFill>
            <a:srgbClr val="E8E8E3"/>
          </a:solidFill>
          <a:ln w="22860">
            <a:solidFill>
              <a:srgbClr val="C8CAC1"/>
            </a:solidFill>
            <a:prstDash val="solid"/>
          </a:ln>
        </p:spPr>
      </p:sp>
      <p:sp>
        <p:nvSpPr>
          <p:cNvPr id="5" name="Shape 2"/>
          <p:cNvSpPr/>
          <p:nvPr/>
        </p:nvSpPr>
        <p:spPr>
          <a:xfrm>
            <a:off x="6108502" y="2059781"/>
            <a:ext cx="91440" cy="1326118"/>
          </a:xfrm>
          <a:prstGeom prst="roundRect">
            <a:avLst>
              <a:gd name="adj" fmla="val 30233"/>
            </a:avLst>
          </a:prstGeom>
          <a:solidFill>
            <a:srgbClr val="C8CAC1"/>
          </a:solidFill>
          <a:ln/>
        </p:spPr>
      </p:sp>
      <p:sp>
        <p:nvSpPr>
          <p:cNvPr id="6" name="Text 3"/>
          <p:cNvSpPr/>
          <p:nvPr/>
        </p:nvSpPr>
        <p:spPr>
          <a:xfrm>
            <a:off x="6406991" y="2266831"/>
            <a:ext cx="2303621" cy="287893"/>
          </a:xfrm>
          <a:prstGeom prst="rect">
            <a:avLst/>
          </a:prstGeom>
          <a:noFill/>
          <a:ln/>
        </p:spPr>
        <p:txBody>
          <a:bodyPr wrap="none" lIns="0" tIns="0" rIns="0" bIns="0" rtlCol="0" anchor="t"/>
          <a:lstStyle/>
          <a:p>
            <a:pPr algn="l" indent="0" marL="0">
              <a:lnSpc>
                <a:spcPts val="2250"/>
              </a:lnSpc>
              <a:buNone/>
            </a:pPr>
            <a:r>
              <a:rPr lang="en-US" sz="1800" b="1" dirty="0">
                <a:solidFill>
                  <a:srgbClr val="55575A"/>
                </a:solidFill>
                <a:latin typeface="Hubot Sans Bold" pitchFamily="34" charset="0"/>
                <a:ea typeface="Hubot Sans Bold" pitchFamily="34" charset="-122"/>
                <a:cs typeface="Hubot Sans Bold" pitchFamily="34" charset="-120"/>
              </a:rPr>
              <a:t>STALE INFLUENCE</a:t>
            </a:r>
            <a:endParaRPr lang="en-US" sz="1800" dirty="0"/>
          </a:p>
        </p:txBody>
      </p:sp>
      <p:sp>
        <p:nvSpPr>
          <p:cNvPr id="7" name="Text 4"/>
          <p:cNvSpPr/>
          <p:nvPr/>
        </p:nvSpPr>
        <p:spPr>
          <a:xfrm>
            <a:off x="6406991" y="2644497"/>
            <a:ext cx="7371398" cy="534352"/>
          </a:xfrm>
          <a:prstGeom prst="rect">
            <a:avLst/>
          </a:prstGeom>
          <a:noFill/>
          <a:ln/>
        </p:spPr>
        <p:txBody>
          <a:bodyPr wrap="square" lIns="0" tIns="0" rIns="0" bIns="0" rtlCol="0" anchor="t"/>
          <a:lstStyle/>
          <a:p>
            <a:pPr algn="l" indent="0" marL="0">
              <a:lnSpc>
                <a:spcPts val="2100"/>
              </a:lnSpc>
              <a:buNone/>
            </a:pPr>
            <a:r>
              <a:rPr lang="en-US" sz="1450" dirty="0">
                <a:solidFill>
                  <a:srgbClr val="55575A"/>
                </a:solidFill>
                <a:latin typeface="Roboto Condensed" pitchFamily="34" charset="0"/>
                <a:ea typeface="Roboto Condensed" pitchFamily="34" charset="-122"/>
                <a:cs typeface="Roboto Condensed" pitchFamily="34" charset="-120"/>
              </a:rPr>
              <a:t>User activities stored indefinitely cause outdated data to heavily influence system behavior, leading to inaccurate predictions.</a:t>
            </a:r>
            <a:endParaRPr lang="en-US" sz="1450" dirty="0"/>
          </a:p>
        </p:txBody>
      </p:sp>
      <p:sp>
        <p:nvSpPr>
          <p:cNvPr id="8" name="Shape 5"/>
          <p:cNvSpPr/>
          <p:nvPr/>
        </p:nvSpPr>
        <p:spPr>
          <a:xfrm>
            <a:off x="6131362" y="3535561"/>
            <a:ext cx="7854077" cy="1326118"/>
          </a:xfrm>
          <a:prstGeom prst="roundRect">
            <a:avLst>
              <a:gd name="adj" fmla="val 8274"/>
            </a:avLst>
          </a:prstGeom>
          <a:solidFill>
            <a:srgbClr val="E8E8E3"/>
          </a:solidFill>
          <a:ln w="22860">
            <a:solidFill>
              <a:srgbClr val="C8CAC1"/>
            </a:solidFill>
            <a:prstDash val="solid"/>
          </a:ln>
        </p:spPr>
      </p:sp>
      <p:sp>
        <p:nvSpPr>
          <p:cNvPr id="9" name="Shape 6"/>
          <p:cNvSpPr/>
          <p:nvPr/>
        </p:nvSpPr>
        <p:spPr>
          <a:xfrm>
            <a:off x="6108502" y="3535561"/>
            <a:ext cx="91440" cy="1326118"/>
          </a:xfrm>
          <a:prstGeom prst="roundRect">
            <a:avLst>
              <a:gd name="adj" fmla="val 30233"/>
            </a:avLst>
          </a:prstGeom>
          <a:solidFill>
            <a:srgbClr val="C8CAC1"/>
          </a:solidFill>
          <a:ln/>
        </p:spPr>
      </p:sp>
      <p:sp>
        <p:nvSpPr>
          <p:cNvPr id="10" name="Text 7"/>
          <p:cNvSpPr/>
          <p:nvPr/>
        </p:nvSpPr>
        <p:spPr>
          <a:xfrm>
            <a:off x="6406991" y="3742611"/>
            <a:ext cx="3035022" cy="287893"/>
          </a:xfrm>
          <a:prstGeom prst="rect">
            <a:avLst/>
          </a:prstGeom>
          <a:noFill/>
          <a:ln/>
        </p:spPr>
        <p:txBody>
          <a:bodyPr wrap="none" lIns="0" tIns="0" rIns="0" bIns="0" rtlCol="0" anchor="t"/>
          <a:lstStyle/>
          <a:p>
            <a:pPr algn="l" indent="0" marL="0">
              <a:lnSpc>
                <a:spcPts val="2250"/>
              </a:lnSpc>
              <a:buNone/>
            </a:pPr>
            <a:r>
              <a:rPr lang="en-US" sz="1800" b="1" dirty="0">
                <a:solidFill>
                  <a:srgbClr val="55575A"/>
                </a:solidFill>
                <a:latin typeface="Hubot Sans Bold" pitchFamily="34" charset="0"/>
                <a:ea typeface="Hubot Sans Bold" pitchFamily="34" charset="-122"/>
                <a:cs typeface="Hubot Sans Bold" pitchFamily="34" charset="-120"/>
              </a:rPr>
              <a:t>DEGRADED EXPERIENCE</a:t>
            </a:r>
            <a:endParaRPr lang="en-US" sz="1800" dirty="0"/>
          </a:p>
        </p:txBody>
      </p:sp>
      <p:sp>
        <p:nvSpPr>
          <p:cNvPr id="11" name="Text 8"/>
          <p:cNvSpPr/>
          <p:nvPr/>
        </p:nvSpPr>
        <p:spPr>
          <a:xfrm>
            <a:off x="6406991" y="4120277"/>
            <a:ext cx="7371398" cy="534352"/>
          </a:xfrm>
          <a:prstGeom prst="rect">
            <a:avLst/>
          </a:prstGeom>
          <a:noFill/>
          <a:ln/>
        </p:spPr>
        <p:txBody>
          <a:bodyPr wrap="square" lIns="0" tIns="0" rIns="0" bIns="0" rtlCol="0" anchor="t"/>
          <a:lstStyle/>
          <a:p>
            <a:pPr algn="l" indent="0" marL="0">
              <a:lnSpc>
                <a:spcPts val="2100"/>
              </a:lnSpc>
              <a:buNone/>
            </a:pPr>
            <a:r>
              <a:rPr lang="en-US" sz="1450" dirty="0">
                <a:solidFill>
                  <a:srgbClr val="55575A"/>
                </a:solidFill>
                <a:latin typeface="Roboto Condensed" pitchFamily="34" charset="0"/>
                <a:ea typeface="Roboto Condensed" pitchFamily="34" charset="-122"/>
                <a:cs typeface="Roboto Condensed" pitchFamily="34" charset="-120"/>
              </a:rPr>
              <a:t>Incorrect recommendations and irrelevant notifications frustrate users, reducing engagement and satisfaction.</a:t>
            </a:r>
            <a:endParaRPr lang="en-US" sz="1450" dirty="0"/>
          </a:p>
        </p:txBody>
      </p:sp>
      <p:sp>
        <p:nvSpPr>
          <p:cNvPr id="12" name="Shape 9"/>
          <p:cNvSpPr/>
          <p:nvPr/>
        </p:nvSpPr>
        <p:spPr>
          <a:xfrm>
            <a:off x="6131362" y="5011341"/>
            <a:ext cx="7854077" cy="1326118"/>
          </a:xfrm>
          <a:prstGeom prst="roundRect">
            <a:avLst>
              <a:gd name="adj" fmla="val 8274"/>
            </a:avLst>
          </a:prstGeom>
          <a:solidFill>
            <a:srgbClr val="E8E8E3"/>
          </a:solidFill>
          <a:ln w="22860">
            <a:solidFill>
              <a:srgbClr val="C8CAC1"/>
            </a:solidFill>
            <a:prstDash val="solid"/>
          </a:ln>
        </p:spPr>
      </p:sp>
      <p:sp>
        <p:nvSpPr>
          <p:cNvPr id="13" name="Shape 10"/>
          <p:cNvSpPr/>
          <p:nvPr/>
        </p:nvSpPr>
        <p:spPr>
          <a:xfrm>
            <a:off x="6108502" y="5011341"/>
            <a:ext cx="91440" cy="1326118"/>
          </a:xfrm>
          <a:prstGeom prst="roundRect">
            <a:avLst>
              <a:gd name="adj" fmla="val 30233"/>
            </a:avLst>
          </a:prstGeom>
          <a:solidFill>
            <a:srgbClr val="C8CAC1"/>
          </a:solidFill>
          <a:ln/>
        </p:spPr>
      </p:sp>
      <p:sp>
        <p:nvSpPr>
          <p:cNvPr id="14" name="Text 11"/>
          <p:cNvSpPr/>
          <p:nvPr/>
        </p:nvSpPr>
        <p:spPr>
          <a:xfrm>
            <a:off x="6406991" y="5218390"/>
            <a:ext cx="2579489" cy="287893"/>
          </a:xfrm>
          <a:prstGeom prst="rect">
            <a:avLst/>
          </a:prstGeom>
          <a:noFill/>
          <a:ln/>
        </p:spPr>
        <p:txBody>
          <a:bodyPr wrap="none" lIns="0" tIns="0" rIns="0" bIns="0" rtlCol="0" anchor="t"/>
          <a:lstStyle/>
          <a:p>
            <a:pPr algn="l" indent="0" marL="0">
              <a:lnSpc>
                <a:spcPts val="2250"/>
              </a:lnSpc>
              <a:buNone/>
            </a:pPr>
            <a:r>
              <a:rPr lang="en-US" sz="1800" b="1" dirty="0">
                <a:solidFill>
                  <a:srgbClr val="55575A"/>
                </a:solidFill>
                <a:latin typeface="Hubot Sans Bold" pitchFamily="34" charset="0"/>
                <a:ea typeface="Hubot Sans Bold" pitchFamily="34" charset="-122"/>
                <a:cs typeface="Hubot Sans Bold" pitchFamily="34" charset="-120"/>
              </a:rPr>
              <a:t>PRIVACY CONCERNS</a:t>
            </a:r>
            <a:endParaRPr lang="en-US" sz="1800" dirty="0"/>
          </a:p>
        </p:txBody>
      </p:sp>
      <p:sp>
        <p:nvSpPr>
          <p:cNvPr id="15" name="Text 12"/>
          <p:cNvSpPr/>
          <p:nvPr/>
        </p:nvSpPr>
        <p:spPr>
          <a:xfrm>
            <a:off x="6406991" y="5596057"/>
            <a:ext cx="7371398" cy="534352"/>
          </a:xfrm>
          <a:prstGeom prst="rect">
            <a:avLst/>
          </a:prstGeom>
          <a:noFill/>
          <a:ln/>
        </p:spPr>
        <p:txBody>
          <a:bodyPr wrap="square" lIns="0" tIns="0" rIns="0" bIns="0" rtlCol="0" anchor="t"/>
          <a:lstStyle/>
          <a:p>
            <a:pPr algn="l" indent="0" marL="0">
              <a:lnSpc>
                <a:spcPts val="2100"/>
              </a:lnSpc>
              <a:buNone/>
            </a:pPr>
            <a:r>
              <a:rPr lang="en-US" sz="1450" dirty="0">
                <a:solidFill>
                  <a:srgbClr val="55575A"/>
                </a:solidFill>
                <a:latin typeface="Roboto Condensed" pitchFamily="34" charset="0"/>
                <a:ea typeface="Roboto Condensed" pitchFamily="34" charset="-122"/>
                <a:cs typeface="Roboto Condensed" pitchFamily="34" charset="-120"/>
              </a:rPr>
              <a:t>Keeping personal data forever raises significant privacy and security risks for both users and organizations.</a:t>
            </a:r>
            <a:endParaRPr lang="en-US" sz="1450" dirty="0"/>
          </a:p>
        </p:txBody>
      </p:sp>
      <p:sp>
        <p:nvSpPr>
          <p:cNvPr id="16" name="Shape 13"/>
          <p:cNvSpPr/>
          <p:nvPr/>
        </p:nvSpPr>
        <p:spPr>
          <a:xfrm>
            <a:off x="6131362" y="6487120"/>
            <a:ext cx="7854077" cy="1058942"/>
          </a:xfrm>
          <a:prstGeom prst="roundRect">
            <a:avLst>
              <a:gd name="adj" fmla="val 10362"/>
            </a:avLst>
          </a:prstGeom>
          <a:solidFill>
            <a:srgbClr val="E8E8E3"/>
          </a:solidFill>
          <a:ln w="22860">
            <a:solidFill>
              <a:srgbClr val="C8CAC1"/>
            </a:solidFill>
            <a:prstDash val="solid"/>
          </a:ln>
        </p:spPr>
      </p:sp>
      <p:sp>
        <p:nvSpPr>
          <p:cNvPr id="17" name="Shape 14"/>
          <p:cNvSpPr/>
          <p:nvPr/>
        </p:nvSpPr>
        <p:spPr>
          <a:xfrm>
            <a:off x="6108502" y="6487120"/>
            <a:ext cx="91440" cy="1058942"/>
          </a:xfrm>
          <a:prstGeom prst="roundRect">
            <a:avLst>
              <a:gd name="adj" fmla="val 30233"/>
            </a:avLst>
          </a:prstGeom>
          <a:solidFill>
            <a:srgbClr val="C8CAC1"/>
          </a:solidFill>
          <a:ln/>
        </p:spPr>
      </p:sp>
      <p:sp>
        <p:nvSpPr>
          <p:cNvPr id="18" name="Text 15"/>
          <p:cNvSpPr/>
          <p:nvPr/>
        </p:nvSpPr>
        <p:spPr>
          <a:xfrm>
            <a:off x="6406991" y="6694170"/>
            <a:ext cx="2303621" cy="287893"/>
          </a:xfrm>
          <a:prstGeom prst="rect">
            <a:avLst/>
          </a:prstGeom>
          <a:noFill/>
          <a:ln/>
        </p:spPr>
        <p:txBody>
          <a:bodyPr wrap="none" lIns="0" tIns="0" rIns="0" bIns="0" rtlCol="0" anchor="t"/>
          <a:lstStyle/>
          <a:p>
            <a:pPr algn="l" indent="0" marL="0">
              <a:lnSpc>
                <a:spcPts val="2250"/>
              </a:lnSpc>
              <a:buNone/>
            </a:pPr>
            <a:r>
              <a:rPr lang="en-US" sz="1800" b="1" dirty="0">
                <a:solidFill>
                  <a:srgbClr val="55575A"/>
                </a:solidFill>
                <a:latin typeface="Hubot Sans Bold" pitchFamily="34" charset="0"/>
                <a:ea typeface="Hubot Sans Bold" pitchFamily="34" charset="-122"/>
                <a:cs typeface="Hubot Sans Bold" pitchFamily="34" charset="-120"/>
              </a:rPr>
              <a:t>RIGID SYSTEMS</a:t>
            </a:r>
            <a:endParaRPr lang="en-US" sz="1800" dirty="0"/>
          </a:p>
        </p:txBody>
      </p:sp>
      <p:sp>
        <p:nvSpPr>
          <p:cNvPr id="19" name="Text 16"/>
          <p:cNvSpPr/>
          <p:nvPr/>
        </p:nvSpPr>
        <p:spPr>
          <a:xfrm>
            <a:off x="6406991" y="7071836"/>
            <a:ext cx="7371398" cy="267176"/>
          </a:xfrm>
          <a:prstGeom prst="rect">
            <a:avLst/>
          </a:prstGeom>
          <a:noFill/>
          <a:ln/>
        </p:spPr>
        <p:txBody>
          <a:bodyPr wrap="none" lIns="0" tIns="0" rIns="0" bIns="0" rtlCol="0" anchor="t"/>
          <a:lstStyle/>
          <a:p>
            <a:pPr algn="l" indent="0" marL="0">
              <a:lnSpc>
                <a:spcPts val="2100"/>
              </a:lnSpc>
              <a:buNone/>
            </a:pPr>
            <a:r>
              <a:rPr lang="en-US" sz="1450" dirty="0">
                <a:solidFill>
                  <a:srgbClr val="55575A"/>
                </a:solidFill>
                <a:latin typeface="Roboto Condensed" pitchFamily="34" charset="0"/>
                <a:ea typeface="Roboto Condensed" pitchFamily="34" charset="-122"/>
                <a:cs typeface="Roboto Condensed" pitchFamily="34" charset="-120"/>
              </a:rPr>
              <a:t>Fixed data deletion periods fail because they do not align with real, dynamic user behavior patterns.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987981"/>
            <a:ext cx="12123658" cy="708779"/>
          </a:xfrm>
          <a:prstGeom prst="rect">
            <a:avLst/>
          </a:prstGeom>
          <a:noFill/>
          <a:ln/>
        </p:spPr>
        <p:txBody>
          <a:bodyPr wrap="none" lIns="0" tIns="0" rIns="0" bIns="0" rtlCol="0" anchor="t"/>
          <a:lstStyle/>
          <a:p>
            <a:pPr algn="l" indent="0" marL="0">
              <a:lnSpc>
                <a:spcPts val="5550"/>
              </a:lnSpc>
              <a:buNone/>
            </a:pPr>
            <a:r>
              <a:rPr lang="en-US" sz="4450" b="1" dirty="0">
                <a:solidFill>
                  <a:srgbClr val="0C0D0F"/>
                </a:solidFill>
                <a:latin typeface="Hubot Sans Bold" pitchFamily="34" charset="0"/>
                <a:ea typeface="Hubot Sans Bold" pitchFamily="34" charset="-122"/>
                <a:cs typeface="Hubot Sans Bold" pitchFamily="34" charset="-120"/>
              </a:rPr>
              <a:t>THE ABSTRACT: DYNAMIC DATA EXPIRY</a:t>
            </a:r>
            <a:endParaRPr lang="en-US" sz="4450" dirty="0"/>
          </a:p>
        </p:txBody>
      </p:sp>
      <p:pic>
        <p:nvPicPr>
          <p:cNvPr id="3" name="Image 0" descr="preencoded.png">    </p:cNvPr>
          <p:cNvPicPr>
            <a:picLocks noChangeAspect="1"/>
          </p:cNvPicPr>
          <p:nvPr/>
        </p:nvPicPr>
        <p:blipFill>
          <a:blip r:embed="rId1"/>
          <a:stretch>
            <a:fillRect/>
          </a:stretch>
        </p:blipFill>
        <p:spPr>
          <a:xfrm>
            <a:off x="793790" y="2292072"/>
            <a:ext cx="8284131" cy="4694277"/>
          </a:xfrm>
          <a:prstGeom prst="rect">
            <a:avLst/>
          </a:prstGeom>
        </p:spPr>
      </p:pic>
      <p:sp>
        <p:nvSpPr>
          <p:cNvPr id="4" name="Text 1"/>
          <p:cNvSpPr/>
          <p:nvPr/>
        </p:nvSpPr>
        <p:spPr>
          <a:xfrm>
            <a:off x="9638943" y="2722602"/>
            <a:ext cx="4205168" cy="1814513"/>
          </a:xfrm>
          <a:prstGeom prst="rect">
            <a:avLst/>
          </a:prstGeom>
          <a:noFill/>
          <a:ln/>
        </p:spPr>
        <p:txBody>
          <a:bodyPr wrap="square" lIns="0" tIns="0" rIns="0" bIns="0" rtlCol="0" anchor="t"/>
          <a:lstStyle/>
          <a:p>
            <a:pPr algn="l" indent="0" marL="0">
              <a:lnSpc>
                <a:spcPts val="2850"/>
              </a:lnSpc>
              <a:buNone/>
            </a:pPr>
            <a:r>
              <a:rPr lang="en-US" sz="1750" dirty="0">
                <a:solidFill>
                  <a:srgbClr val="55575A"/>
                </a:solidFill>
                <a:latin typeface="Roboto Condensed" pitchFamily="34" charset="0"/>
                <a:ea typeface="Roboto Condensed" pitchFamily="34" charset="-122"/>
                <a:cs typeface="Roboto Condensed" pitchFamily="34" charset="-120"/>
              </a:rPr>
              <a:t>Our system revolutionizes personal data management by introducing </a:t>
            </a:r>
            <a:pPr algn="l" indent="0" marL="0">
              <a:lnSpc>
                <a:spcPts val="2850"/>
              </a:lnSpc>
              <a:buNone/>
            </a:pPr>
            <a:r>
              <a:rPr lang="en-US" sz="1750" b="1" dirty="0">
                <a:solidFill>
                  <a:srgbClr val="151617"/>
                </a:solidFill>
                <a:latin typeface="Roboto Condensed" pitchFamily="34" charset="0"/>
                <a:ea typeface="Roboto Condensed" pitchFamily="34" charset="-122"/>
                <a:cs typeface="Roboto Condensed" pitchFamily="34" charset="-120"/>
              </a:rPr>
              <a:t>dynamic expiry</a:t>
            </a:r>
            <a:pPr algn="l" indent="0" marL="0">
              <a:lnSpc>
                <a:spcPts val="2850"/>
              </a:lnSpc>
              <a:buNone/>
            </a:pPr>
            <a:r>
              <a:rPr lang="en-US" sz="1750" dirty="0">
                <a:solidFill>
                  <a:srgbClr val="55575A"/>
                </a:solidFill>
                <a:latin typeface="Roboto Condensed" pitchFamily="34" charset="0"/>
                <a:ea typeface="Roboto Condensed" pitchFamily="34" charset="-122"/>
                <a:cs typeface="Roboto Condensed" pitchFamily="34" charset="-120"/>
              </a:rPr>
              <a:t>. It tracks real-time behavior signals and applies advanced time-decay logic to ensure data relevance.</a:t>
            </a:r>
            <a:endParaRPr lang="en-US" sz="1750" dirty="0"/>
          </a:p>
        </p:txBody>
      </p:sp>
      <p:sp>
        <p:nvSpPr>
          <p:cNvPr id="5" name="Text 2"/>
          <p:cNvSpPr/>
          <p:nvPr/>
        </p:nvSpPr>
        <p:spPr>
          <a:xfrm>
            <a:off x="9638943" y="4741188"/>
            <a:ext cx="4205168" cy="1814513"/>
          </a:xfrm>
          <a:prstGeom prst="rect">
            <a:avLst/>
          </a:prstGeom>
          <a:noFill/>
          <a:ln/>
        </p:spPr>
        <p:txBody>
          <a:bodyPr wrap="square" lIns="0" tIns="0" rIns="0" bIns="0" rtlCol="0" anchor="t"/>
          <a:lstStyle/>
          <a:p>
            <a:pPr algn="l" indent="0" marL="0">
              <a:lnSpc>
                <a:spcPts val="2850"/>
              </a:lnSpc>
              <a:buNone/>
            </a:pPr>
            <a:r>
              <a:rPr lang="en-US" sz="1750" dirty="0">
                <a:solidFill>
                  <a:srgbClr val="55575A"/>
                </a:solidFill>
                <a:latin typeface="Roboto Condensed" pitchFamily="34" charset="0"/>
                <a:ea typeface="Roboto Condensed" pitchFamily="34" charset="-122"/>
                <a:cs typeface="Roboto Condensed" pitchFamily="34" charset="-120"/>
              </a:rPr>
              <a:t>Data is dynamically adapted based on continuous user interactions, rather than static rules. This creates a truly adaptive data management system that evolves with user preferences.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665917"/>
            <a:ext cx="5676067" cy="708779"/>
          </a:xfrm>
          <a:prstGeom prst="rect">
            <a:avLst/>
          </a:prstGeom>
          <a:noFill/>
          <a:ln/>
        </p:spPr>
        <p:txBody>
          <a:bodyPr wrap="none" lIns="0" tIns="0" rIns="0" bIns="0" rtlCol="0" anchor="t"/>
          <a:lstStyle/>
          <a:p>
            <a:pPr algn="l" indent="0" marL="0">
              <a:lnSpc>
                <a:spcPts val="5550"/>
              </a:lnSpc>
              <a:buNone/>
            </a:pPr>
            <a:r>
              <a:rPr lang="en-US" sz="4450" b="1" dirty="0">
                <a:solidFill>
                  <a:srgbClr val="0C0D0F"/>
                </a:solidFill>
                <a:latin typeface="Hubot Sans Bold" pitchFamily="34" charset="0"/>
                <a:ea typeface="Hubot Sans Bold" pitchFamily="34" charset="-122"/>
                <a:cs typeface="Hubot Sans Bold" pitchFamily="34" charset="-120"/>
              </a:rPr>
              <a:t>CORE OBJECTIVES</a:t>
            </a:r>
            <a:endParaRPr lang="en-US" sz="4450" dirty="0"/>
          </a:p>
        </p:txBody>
      </p:sp>
      <p:sp>
        <p:nvSpPr>
          <p:cNvPr id="3" name="Shape 1"/>
          <p:cNvSpPr/>
          <p:nvPr/>
        </p:nvSpPr>
        <p:spPr>
          <a:xfrm>
            <a:off x="793790" y="1828324"/>
            <a:ext cx="4196358" cy="2931438"/>
          </a:xfrm>
          <a:prstGeom prst="roundRect">
            <a:avLst>
              <a:gd name="adj" fmla="val 1161"/>
            </a:avLst>
          </a:prstGeom>
          <a:solidFill>
            <a:srgbClr val="D8D9D2"/>
          </a:solidFill>
          <a:ln/>
        </p:spPr>
      </p:sp>
      <p:sp>
        <p:nvSpPr>
          <p:cNvPr id="4" name="Shape 2"/>
          <p:cNvSpPr/>
          <p:nvPr/>
        </p:nvSpPr>
        <p:spPr>
          <a:xfrm>
            <a:off x="1020604" y="2055138"/>
            <a:ext cx="680442" cy="680442"/>
          </a:xfrm>
          <a:prstGeom prst="roundRect">
            <a:avLst>
              <a:gd name="adj" fmla="val 13436980"/>
            </a:avLst>
          </a:prstGeom>
          <a:solidFill>
            <a:srgbClr val="C8CAC1"/>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07770" y="2242185"/>
            <a:ext cx="306110" cy="306110"/>
          </a:xfrm>
          <a:prstGeom prst="rect">
            <a:avLst/>
          </a:prstGeom>
        </p:spPr>
      </p:pic>
      <p:sp>
        <p:nvSpPr>
          <p:cNvPr id="6" name="Text 3"/>
          <p:cNvSpPr/>
          <p:nvPr/>
        </p:nvSpPr>
        <p:spPr>
          <a:xfrm>
            <a:off x="1020604" y="2962394"/>
            <a:ext cx="3742730" cy="708660"/>
          </a:xfrm>
          <a:prstGeom prst="rect">
            <a:avLst/>
          </a:prstGeom>
          <a:noFill/>
          <a:ln/>
        </p:spPr>
        <p:txBody>
          <a:bodyPr wrap="square" lIns="0" tIns="0" rIns="0" bIns="0" rtlCol="0" anchor="t"/>
          <a:lstStyle/>
          <a:p>
            <a:pPr algn="l" indent="0" marL="0">
              <a:lnSpc>
                <a:spcPts val="2750"/>
              </a:lnSpc>
              <a:buNone/>
            </a:pPr>
            <a:r>
              <a:rPr lang="en-US" sz="2200" b="1" dirty="0">
                <a:solidFill>
                  <a:srgbClr val="000000"/>
                </a:solidFill>
                <a:latin typeface="Hubot Sans Bold" pitchFamily="34" charset="0"/>
                <a:ea typeface="Hubot Sans Bold" pitchFamily="34" charset="-122"/>
                <a:cs typeface="Hubot Sans Bold" pitchFamily="34" charset="-120"/>
              </a:rPr>
              <a:t>DYNAMIC EXPIRY LOGIC</a:t>
            </a:r>
            <a:endParaRPr lang="en-US" sz="2200" dirty="0"/>
          </a:p>
        </p:txBody>
      </p:sp>
      <p:sp>
        <p:nvSpPr>
          <p:cNvPr id="7" name="Text 4"/>
          <p:cNvSpPr/>
          <p:nvPr/>
        </p:nvSpPr>
        <p:spPr>
          <a:xfrm>
            <a:off x="1020604" y="3807143"/>
            <a:ext cx="3742730"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Roboto Condensed" pitchFamily="34" charset="0"/>
                <a:ea typeface="Roboto Condensed" pitchFamily="34" charset="-122"/>
                <a:cs typeface="Roboto Condensed" pitchFamily="34" charset="-120"/>
              </a:rPr>
              <a:t>Assign expiry logic based on behavioral relevance rather than fixed time periods.</a:t>
            </a:r>
            <a:endParaRPr lang="en-US" sz="1750" dirty="0"/>
          </a:p>
        </p:txBody>
      </p:sp>
      <p:sp>
        <p:nvSpPr>
          <p:cNvPr id="8" name="Shape 5"/>
          <p:cNvSpPr/>
          <p:nvPr/>
        </p:nvSpPr>
        <p:spPr>
          <a:xfrm>
            <a:off x="5216962" y="1828324"/>
            <a:ext cx="4196358" cy="2931438"/>
          </a:xfrm>
          <a:prstGeom prst="roundRect">
            <a:avLst>
              <a:gd name="adj" fmla="val 1161"/>
            </a:avLst>
          </a:prstGeom>
          <a:solidFill>
            <a:srgbClr val="D8D9D2"/>
          </a:solidFill>
          <a:ln/>
        </p:spPr>
      </p:sp>
      <p:sp>
        <p:nvSpPr>
          <p:cNvPr id="9" name="Shape 6"/>
          <p:cNvSpPr/>
          <p:nvPr/>
        </p:nvSpPr>
        <p:spPr>
          <a:xfrm>
            <a:off x="5443776" y="2055138"/>
            <a:ext cx="680442" cy="680442"/>
          </a:xfrm>
          <a:prstGeom prst="roundRect">
            <a:avLst>
              <a:gd name="adj" fmla="val 13436980"/>
            </a:avLst>
          </a:prstGeom>
          <a:solidFill>
            <a:srgbClr val="C8CAC1"/>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30942" y="2242185"/>
            <a:ext cx="306110" cy="306110"/>
          </a:xfrm>
          <a:prstGeom prst="rect">
            <a:avLst/>
          </a:prstGeom>
        </p:spPr>
      </p:pic>
      <p:sp>
        <p:nvSpPr>
          <p:cNvPr id="11" name="Text 7"/>
          <p:cNvSpPr/>
          <p:nvPr/>
        </p:nvSpPr>
        <p:spPr>
          <a:xfrm>
            <a:off x="5443776" y="2962394"/>
            <a:ext cx="3742730" cy="708660"/>
          </a:xfrm>
          <a:prstGeom prst="rect">
            <a:avLst/>
          </a:prstGeom>
          <a:noFill/>
          <a:ln/>
        </p:spPr>
        <p:txBody>
          <a:bodyPr wrap="square" lIns="0" tIns="0" rIns="0" bIns="0" rtlCol="0" anchor="t"/>
          <a:lstStyle/>
          <a:p>
            <a:pPr algn="l" indent="0" marL="0">
              <a:lnSpc>
                <a:spcPts val="2750"/>
              </a:lnSpc>
              <a:buNone/>
            </a:pPr>
            <a:r>
              <a:rPr lang="en-US" sz="2200" b="1" dirty="0">
                <a:solidFill>
                  <a:srgbClr val="000000"/>
                </a:solidFill>
                <a:latin typeface="Hubot Sans Bold" pitchFamily="34" charset="0"/>
                <a:ea typeface="Hubot Sans Bold" pitchFamily="34" charset="-122"/>
                <a:cs typeface="Hubot Sans Bold" pitchFamily="34" charset="-120"/>
              </a:rPr>
              <a:t>BEHAVIORAL TRACKING</a:t>
            </a:r>
            <a:endParaRPr lang="en-US" sz="2200" dirty="0"/>
          </a:p>
        </p:txBody>
      </p:sp>
      <p:sp>
        <p:nvSpPr>
          <p:cNvPr id="12" name="Text 8"/>
          <p:cNvSpPr/>
          <p:nvPr/>
        </p:nvSpPr>
        <p:spPr>
          <a:xfrm>
            <a:off x="5443776" y="3807143"/>
            <a:ext cx="3742730"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Roboto Condensed" pitchFamily="34" charset="0"/>
                <a:ea typeface="Roboto Condensed" pitchFamily="34" charset="-122"/>
                <a:cs typeface="Roboto Condensed" pitchFamily="34" charset="-120"/>
              </a:rPr>
              <a:t>Update user preferences actively from recent interactions and behaviors.</a:t>
            </a:r>
            <a:endParaRPr lang="en-US" sz="1750" dirty="0"/>
          </a:p>
        </p:txBody>
      </p:sp>
      <p:sp>
        <p:nvSpPr>
          <p:cNvPr id="13" name="Shape 9"/>
          <p:cNvSpPr/>
          <p:nvPr/>
        </p:nvSpPr>
        <p:spPr>
          <a:xfrm>
            <a:off x="9640133" y="1828324"/>
            <a:ext cx="4196358" cy="2931438"/>
          </a:xfrm>
          <a:prstGeom prst="roundRect">
            <a:avLst>
              <a:gd name="adj" fmla="val 1161"/>
            </a:avLst>
          </a:prstGeom>
          <a:solidFill>
            <a:srgbClr val="D8D9D2"/>
          </a:solidFill>
          <a:ln/>
        </p:spPr>
      </p:sp>
      <p:sp>
        <p:nvSpPr>
          <p:cNvPr id="14" name="Shape 10"/>
          <p:cNvSpPr/>
          <p:nvPr/>
        </p:nvSpPr>
        <p:spPr>
          <a:xfrm>
            <a:off x="9866948" y="2055138"/>
            <a:ext cx="680442" cy="680442"/>
          </a:xfrm>
          <a:prstGeom prst="roundRect">
            <a:avLst>
              <a:gd name="adj" fmla="val 13436980"/>
            </a:avLst>
          </a:prstGeom>
          <a:solidFill>
            <a:srgbClr val="C8CAC1"/>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54114" y="2242185"/>
            <a:ext cx="306110" cy="306110"/>
          </a:xfrm>
          <a:prstGeom prst="rect">
            <a:avLst/>
          </a:prstGeom>
        </p:spPr>
      </p:pic>
      <p:sp>
        <p:nvSpPr>
          <p:cNvPr id="16" name="Text 11"/>
          <p:cNvSpPr/>
          <p:nvPr/>
        </p:nvSpPr>
        <p:spPr>
          <a:xfrm>
            <a:off x="9866948" y="2962394"/>
            <a:ext cx="3742730" cy="708660"/>
          </a:xfrm>
          <a:prstGeom prst="rect">
            <a:avLst/>
          </a:prstGeom>
          <a:noFill/>
          <a:ln/>
        </p:spPr>
        <p:txBody>
          <a:bodyPr wrap="square" lIns="0" tIns="0" rIns="0" bIns="0" rtlCol="0" anchor="t"/>
          <a:lstStyle/>
          <a:p>
            <a:pPr algn="l" indent="0" marL="0">
              <a:lnSpc>
                <a:spcPts val="2750"/>
              </a:lnSpc>
              <a:buNone/>
            </a:pPr>
            <a:r>
              <a:rPr lang="en-US" sz="2200" b="1" dirty="0">
                <a:solidFill>
                  <a:srgbClr val="000000"/>
                </a:solidFill>
                <a:latin typeface="Hubot Sans Bold" pitchFamily="34" charset="0"/>
                <a:ea typeface="Hubot Sans Bold" pitchFamily="34" charset="-122"/>
                <a:cs typeface="Hubot Sans Bold" pitchFamily="34" charset="-120"/>
              </a:rPr>
              <a:t>TIME-DECAY ALGORITHMS</a:t>
            </a:r>
            <a:endParaRPr lang="en-US" sz="2200" dirty="0"/>
          </a:p>
        </p:txBody>
      </p:sp>
      <p:sp>
        <p:nvSpPr>
          <p:cNvPr id="17" name="Text 12"/>
          <p:cNvSpPr/>
          <p:nvPr/>
        </p:nvSpPr>
        <p:spPr>
          <a:xfrm>
            <a:off x="9866948" y="3807143"/>
            <a:ext cx="3742730"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Roboto Condensed" pitchFamily="34" charset="0"/>
                <a:ea typeface="Roboto Condensed" pitchFamily="34" charset="-122"/>
                <a:cs typeface="Roboto Condensed" pitchFamily="34" charset="-120"/>
              </a:rPr>
              <a:t>Reduce the influence of old data unless reinforced by new behavior patterns.</a:t>
            </a:r>
            <a:endParaRPr lang="en-US" sz="1750" dirty="0"/>
          </a:p>
        </p:txBody>
      </p:sp>
      <p:sp>
        <p:nvSpPr>
          <p:cNvPr id="18" name="Shape 13"/>
          <p:cNvSpPr/>
          <p:nvPr/>
        </p:nvSpPr>
        <p:spPr>
          <a:xfrm>
            <a:off x="793790" y="4986576"/>
            <a:ext cx="6407944" cy="2577108"/>
          </a:xfrm>
          <a:prstGeom prst="roundRect">
            <a:avLst>
              <a:gd name="adj" fmla="val 1320"/>
            </a:avLst>
          </a:prstGeom>
          <a:solidFill>
            <a:srgbClr val="D8D9D2"/>
          </a:solidFill>
          <a:ln/>
        </p:spPr>
      </p:sp>
      <p:sp>
        <p:nvSpPr>
          <p:cNvPr id="19" name="Shape 14"/>
          <p:cNvSpPr/>
          <p:nvPr/>
        </p:nvSpPr>
        <p:spPr>
          <a:xfrm>
            <a:off x="1020604" y="5213390"/>
            <a:ext cx="680442" cy="680442"/>
          </a:xfrm>
          <a:prstGeom prst="roundRect">
            <a:avLst>
              <a:gd name="adj" fmla="val 13436980"/>
            </a:avLst>
          </a:prstGeom>
          <a:solidFill>
            <a:srgbClr val="C8CAC1"/>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07770" y="5400437"/>
            <a:ext cx="306110" cy="306110"/>
          </a:xfrm>
          <a:prstGeom prst="rect">
            <a:avLst/>
          </a:prstGeom>
        </p:spPr>
      </p:pic>
      <p:sp>
        <p:nvSpPr>
          <p:cNvPr id="21" name="Text 15"/>
          <p:cNvSpPr/>
          <p:nvPr/>
        </p:nvSpPr>
        <p:spPr>
          <a:xfrm>
            <a:off x="1020604" y="6120646"/>
            <a:ext cx="3517463"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Hubot Sans Bold" pitchFamily="34" charset="0"/>
                <a:ea typeface="Hubot Sans Bold" pitchFamily="34" charset="-122"/>
                <a:cs typeface="Hubot Sans Bold" pitchFamily="34" charset="-120"/>
              </a:rPr>
              <a:t>TIERED DATA STORAGE</a:t>
            </a:r>
            <a:endParaRPr lang="en-US" sz="2200" dirty="0"/>
          </a:p>
        </p:txBody>
      </p:sp>
      <p:sp>
        <p:nvSpPr>
          <p:cNvPr id="22" name="Text 16"/>
          <p:cNvSpPr/>
          <p:nvPr/>
        </p:nvSpPr>
        <p:spPr>
          <a:xfrm>
            <a:off x="1020604" y="6611064"/>
            <a:ext cx="5954316"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Roboto Condensed" pitchFamily="34" charset="0"/>
                <a:ea typeface="Roboto Condensed" pitchFamily="34" charset="-122"/>
                <a:cs typeface="Roboto Condensed" pitchFamily="34" charset="-120"/>
              </a:rPr>
              <a:t>Organize data intelligently into Hot, Warm, Cold, and Delete layers based on relevance.</a:t>
            </a:r>
            <a:endParaRPr lang="en-US" sz="1750" dirty="0"/>
          </a:p>
        </p:txBody>
      </p:sp>
      <p:sp>
        <p:nvSpPr>
          <p:cNvPr id="23" name="Shape 17"/>
          <p:cNvSpPr/>
          <p:nvPr/>
        </p:nvSpPr>
        <p:spPr>
          <a:xfrm>
            <a:off x="7428548" y="4986576"/>
            <a:ext cx="6407944" cy="2577108"/>
          </a:xfrm>
          <a:prstGeom prst="roundRect">
            <a:avLst>
              <a:gd name="adj" fmla="val 1320"/>
            </a:avLst>
          </a:prstGeom>
          <a:solidFill>
            <a:srgbClr val="D8D9D2"/>
          </a:solidFill>
          <a:ln/>
        </p:spPr>
      </p:sp>
      <p:sp>
        <p:nvSpPr>
          <p:cNvPr id="24" name="Shape 18"/>
          <p:cNvSpPr/>
          <p:nvPr/>
        </p:nvSpPr>
        <p:spPr>
          <a:xfrm>
            <a:off x="7655362" y="5213390"/>
            <a:ext cx="680442" cy="680442"/>
          </a:xfrm>
          <a:prstGeom prst="roundRect">
            <a:avLst>
              <a:gd name="adj" fmla="val 13436980"/>
            </a:avLst>
          </a:prstGeom>
          <a:solidFill>
            <a:srgbClr val="C8CAC1"/>
          </a:solidFill>
          <a:ln/>
        </p:spPr>
      </p:sp>
      <p:pic>
        <p:nvPicPr>
          <p:cNvPr id="2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842528" y="5400437"/>
            <a:ext cx="306110" cy="306110"/>
          </a:xfrm>
          <a:prstGeom prst="rect">
            <a:avLst/>
          </a:prstGeom>
        </p:spPr>
      </p:pic>
      <p:sp>
        <p:nvSpPr>
          <p:cNvPr id="26" name="Text 19"/>
          <p:cNvSpPr/>
          <p:nvPr/>
        </p:nvSpPr>
        <p:spPr>
          <a:xfrm>
            <a:off x="7655362" y="6120646"/>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Hubot Sans Bold" pitchFamily="34" charset="0"/>
                <a:ea typeface="Hubot Sans Bold" pitchFamily="34" charset="-122"/>
                <a:cs typeface="Hubot Sans Bold" pitchFamily="34" charset="-120"/>
              </a:rPr>
              <a:t>QUERY FILTERING</a:t>
            </a:r>
            <a:endParaRPr lang="en-US" sz="2200" dirty="0"/>
          </a:p>
        </p:txBody>
      </p:sp>
      <p:sp>
        <p:nvSpPr>
          <p:cNvPr id="27" name="Text 20"/>
          <p:cNvSpPr/>
          <p:nvPr/>
        </p:nvSpPr>
        <p:spPr>
          <a:xfrm>
            <a:off x="7655362" y="6611064"/>
            <a:ext cx="5954316"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Roboto Condensed" pitchFamily="34" charset="0"/>
                <a:ea typeface="Roboto Condensed" pitchFamily="34" charset="-122"/>
                <a:cs typeface="Roboto Condensed" pitchFamily="34" charset="-120"/>
              </a:rPr>
              <a:t>Exclude expired data to maintain pinpoint accuracy in recommendations and queries.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12351" y="551855"/>
            <a:ext cx="7885390" cy="598051"/>
          </a:xfrm>
          <a:prstGeom prst="rect">
            <a:avLst/>
          </a:prstGeom>
          <a:noFill/>
          <a:ln/>
        </p:spPr>
        <p:txBody>
          <a:bodyPr wrap="none" lIns="0" tIns="0" rIns="0" bIns="0" rtlCol="0" anchor="t"/>
          <a:lstStyle/>
          <a:p>
            <a:pPr algn="l" indent="0" marL="0">
              <a:lnSpc>
                <a:spcPts val="4700"/>
              </a:lnSpc>
              <a:buNone/>
            </a:pPr>
            <a:r>
              <a:rPr lang="en-US" sz="3750" b="1" dirty="0">
                <a:solidFill>
                  <a:srgbClr val="0C0D0F"/>
                </a:solidFill>
                <a:latin typeface="Hubot Sans Bold" pitchFamily="34" charset="0"/>
                <a:ea typeface="Hubot Sans Bold" pitchFamily="34" charset="-122"/>
                <a:cs typeface="Hubot Sans Bold" pitchFamily="34" charset="-120"/>
              </a:rPr>
              <a:t>SYSTEM ARCHITECTURE FLOW</a:t>
            </a:r>
            <a:endParaRPr lang="en-US" sz="3750" dirty="0"/>
          </a:p>
        </p:txBody>
      </p:sp>
      <p:pic>
        <p:nvPicPr>
          <p:cNvPr id="3" name="Image 0" descr="preencoded.png">    </p:cNvPr>
          <p:cNvPicPr>
            <a:picLocks noChangeAspect="1"/>
          </p:cNvPicPr>
          <p:nvPr/>
        </p:nvPicPr>
        <p:blipFill>
          <a:blip r:embed="rId1"/>
          <a:stretch>
            <a:fillRect/>
          </a:stretch>
        </p:blipFill>
        <p:spPr>
          <a:xfrm>
            <a:off x="712351" y="1472803"/>
            <a:ext cx="956905" cy="1148239"/>
          </a:xfrm>
          <a:prstGeom prst="rect">
            <a:avLst/>
          </a:prstGeom>
        </p:spPr>
      </p:pic>
      <p:sp>
        <p:nvSpPr>
          <p:cNvPr id="4" name="Text 1"/>
          <p:cNvSpPr/>
          <p:nvPr/>
        </p:nvSpPr>
        <p:spPr>
          <a:xfrm>
            <a:off x="1830705" y="1664137"/>
            <a:ext cx="2406848" cy="298966"/>
          </a:xfrm>
          <a:prstGeom prst="rect">
            <a:avLst/>
          </a:prstGeom>
          <a:noFill/>
          <a:ln/>
        </p:spPr>
        <p:txBody>
          <a:bodyPr wrap="none" lIns="0" tIns="0" rIns="0" bIns="0" rtlCol="0" anchor="t"/>
          <a:lstStyle/>
          <a:p>
            <a:pPr algn="l" indent="0" marL="0">
              <a:lnSpc>
                <a:spcPts val="2350"/>
              </a:lnSpc>
              <a:buNone/>
            </a:pPr>
            <a:r>
              <a:rPr lang="en-US" sz="1850" b="1" dirty="0">
                <a:solidFill>
                  <a:srgbClr val="55575A"/>
                </a:solidFill>
                <a:latin typeface="Hubot Sans Bold" pitchFamily="34" charset="0"/>
                <a:ea typeface="Hubot Sans Bold" pitchFamily="34" charset="-122"/>
                <a:cs typeface="Hubot Sans Bold" pitchFamily="34" charset="-120"/>
              </a:rPr>
              <a:t>DATA COLLECTION</a:t>
            </a:r>
            <a:endParaRPr lang="en-US" sz="1850" dirty="0"/>
          </a:p>
        </p:txBody>
      </p:sp>
      <p:sp>
        <p:nvSpPr>
          <p:cNvPr id="5" name="Text 2"/>
          <p:cNvSpPr/>
          <p:nvPr/>
        </p:nvSpPr>
        <p:spPr>
          <a:xfrm>
            <a:off x="1830705" y="2059900"/>
            <a:ext cx="12087225" cy="282178"/>
          </a:xfrm>
          <a:prstGeom prst="rect">
            <a:avLst/>
          </a:prstGeom>
          <a:noFill/>
          <a:ln/>
        </p:spPr>
        <p:txBody>
          <a:bodyPr wrap="none" lIns="0" tIns="0" rIns="0" bIns="0" rtlCol="0" anchor="t"/>
          <a:lstStyle/>
          <a:p>
            <a:pPr algn="l" indent="0" marL="0">
              <a:lnSpc>
                <a:spcPts val="2200"/>
              </a:lnSpc>
              <a:buNone/>
            </a:pPr>
            <a:r>
              <a:rPr lang="en-US" sz="1500" dirty="0">
                <a:solidFill>
                  <a:srgbClr val="55575A"/>
                </a:solidFill>
                <a:latin typeface="Roboto Condensed" pitchFamily="34" charset="0"/>
                <a:ea typeface="Roboto Condensed" pitchFamily="34" charset="-122"/>
                <a:cs typeface="Roboto Condensed" pitchFamily="34" charset="-120"/>
              </a:rPr>
              <a:t>Captures searches, watches, clicks, and purchases via user activity logs.</a:t>
            </a:r>
            <a:endParaRPr lang="en-US" sz="1500" dirty="0"/>
          </a:p>
        </p:txBody>
      </p:sp>
      <p:pic>
        <p:nvPicPr>
          <p:cNvPr id="6" name="Image 1" descr="preencoded.png">    </p:cNvPr>
          <p:cNvPicPr>
            <a:picLocks noChangeAspect="1"/>
          </p:cNvPicPr>
          <p:nvPr/>
        </p:nvPicPr>
        <p:blipFill>
          <a:blip r:embed="rId2"/>
          <a:stretch>
            <a:fillRect/>
          </a:stretch>
        </p:blipFill>
        <p:spPr>
          <a:xfrm>
            <a:off x="712351" y="2621042"/>
            <a:ext cx="956905" cy="1148239"/>
          </a:xfrm>
          <a:prstGeom prst="rect">
            <a:avLst/>
          </a:prstGeom>
        </p:spPr>
      </p:pic>
      <p:sp>
        <p:nvSpPr>
          <p:cNvPr id="7" name="Text 3"/>
          <p:cNvSpPr/>
          <p:nvPr/>
        </p:nvSpPr>
        <p:spPr>
          <a:xfrm>
            <a:off x="1830705" y="2812375"/>
            <a:ext cx="2392323" cy="298966"/>
          </a:xfrm>
          <a:prstGeom prst="rect">
            <a:avLst/>
          </a:prstGeom>
          <a:noFill/>
          <a:ln/>
        </p:spPr>
        <p:txBody>
          <a:bodyPr wrap="none" lIns="0" tIns="0" rIns="0" bIns="0" rtlCol="0" anchor="t"/>
          <a:lstStyle/>
          <a:p>
            <a:pPr algn="l" indent="0" marL="0">
              <a:lnSpc>
                <a:spcPts val="2350"/>
              </a:lnSpc>
              <a:buNone/>
            </a:pPr>
            <a:r>
              <a:rPr lang="en-US" sz="1850" b="1" dirty="0">
                <a:solidFill>
                  <a:srgbClr val="55575A"/>
                </a:solidFill>
                <a:latin typeface="Hubot Sans Bold" pitchFamily="34" charset="0"/>
                <a:ea typeface="Hubot Sans Bold" pitchFamily="34" charset="-122"/>
                <a:cs typeface="Hubot Sans Bold" pitchFamily="34" charset="-120"/>
              </a:rPr>
              <a:t>ETL PIPELINE</a:t>
            </a:r>
            <a:endParaRPr lang="en-US" sz="1850" dirty="0"/>
          </a:p>
        </p:txBody>
      </p:sp>
      <p:sp>
        <p:nvSpPr>
          <p:cNvPr id="8" name="Text 4"/>
          <p:cNvSpPr/>
          <p:nvPr/>
        </p:nvSpPr>
        <p:spPr>
          <a:xfrm>
            <a:off x="1830705" y="3208139"/>
            <a:ext cx="12087225" cy="282178"/>
          </a:xfrm>
          <a:prstGeom prst="rect">
            <a:avLst/>
          </a:prstGeom>
          <a:noFill/>
          <a:ln/>
        </p:spPr>
        <p:txBody>
          <a:bodyPr wrap="none" lIns="0" tIns="0" rIns="0" bIns="0" rtlCol="0" anchor="t"/>
          <a:lstStyle/>
          <a:p>
            <a:pPr algn="l" indent="0" marL="0">
              <a:lnSpc>
                <a:spcPts val="2200"/>
              </a:lnSpc>
              <a:buNone/>
            </a:pPr>
            <a:r>
              <a:rPr lang="en-US" sz="1500" dirty="0">
                <a:solidFill>
                  <a:srgbClr val="55575A"/>
                </a:solidFill>
                <a:latin typeface="Roboto Condensed" pitchFamily="34" charset="0"/>
                <a:ea typeface="Roboto Condensed" pitchFamily="34" charset="-122"/>
                <a:cs typeface="Roboto Condensed" pitchFamily="34" charset="-120"/>
              </a:rPr>
              <a:t>Extracts, cleans, transforms, and loads behavioral data for processing.</a:t>
            </a:r>
            <a:endParaRPr lang="en-US" sz="1500" dirty="0"/>
          </a:p>
        </p:txBody>
      </p:sp>
      <p:pic>
        <p:nvPicPr>
          <p:cNvPr id="9" name="Image 2" descr="preencoded.png">    </p:cNvPr>
          <p:cNvPicPr>
            <a:picLocks noChangeAspect="1"/>
          </p:cNvPicPr>
          <p:nvPr/>
        </p:nvPicPr>
        <p:blipFill>
          <a:blip r:embed="rId3"/>
          <a:stretch>
            <a:fillRect/>
          </a:stretch>
        </p:blipFill>
        <p:spPr>
          <a:xfrm>
            <a:off x="712351" y="3769281"/>
            <a:ext cx="956905" cy="1148239"/>
          </a:xfrm>
          <a:prstGeom prst="rect">
            <a:avLst/>
          </a:prstGeom>
        </p:spPr>
      </p:pic>
      <p:sp>
        <p:nvSpPr>
          <p:cNvPr id="10" name="Text 5"/>
          <p:cNvSpPr/>
          <p:nvPr/>
        </p:nvSpPr>
        <p:spPr>
          <a:xfrm>
            <a:off x="1830705" y="3960614"/>
            <a:ext cx="3715703" cy="298966"/>
          </a:xfrm>
          <a:prstGeom prst="rect">
            <a:avLst/>
          </a:prstGeom>
          <a:noFill/>
          <a:ln/>
        </p:spPr>
        <p:txBody>
          <a:bodyPr wrap="none" lIns="0" tIns="0" rIns="0" bIns="0" rtlCol="0" anchor="t"/>
          <a:lstStyle/>
          <a:p>
            <a:pPr algn="l" indent="0" marL="0">
              <a:lnSpc>
                <a:spcPts val="2350"/>
              </a:lnSpc>
              <a:buNone/>
            </a:pPr>
            <a:r>
              <a:rPr lang="en-US" sz="1850" b="1" dirty="0">
                <a:solidFill>
                  <a:srgbClr val="55575A"/>
                </a:solidFill>
                <a:latin typeface="Hubot Sans Bold" pitchFamily="34" charset="0"/>
                <a:ea typeface="Hubot Sans Bold" pitchFamily="34" charset="-122"/>
                <a:cs typeface="Hubot Sans Bold" pitchFamily="34" charset="-120"/>
              </a:rPr>
              <a:t>RELEVANCE &amp; DECAY ENGINE</a:t>
            </a:r>
            <a:endParaRPr lang="en-US" sz="1850" dirty="0"/>
          </a:p>
        </p:txBody>
      </p:sp>
      <p:sp>
        <p:nvSpPr>
          <p:cNvPr id="11" name="Text 6"/>
          <p:cNvSpPr/>
          <p:nvPr/>
        </p:nvSpPr>
        <p:spPr>
          <a:xfrm>
            <a:off x="1830705" y="4356378"/>
            <a:ext cx="12087225" cy="282178"/>
          </a:xfrm>
          <a:prstGeom prst="rect">
            <a:avLst/>
          </a:prstGeom>
          <a:noFill/>
          <a:ln/>
        </p:spPr>
        <p:txBody>
          <a:bodyPr wrap="none" lIns="0" tIns="0" rIns="0" bIns="0" rtlCol="0" anchor="t"/>
          <a:lstStyle/>
          <a:p>
            <a:pPr algn="l" indent="0" marL="0">
              <a:lnSpc>
                <a:spcPts val="2200"/>
              </a:lnSpc>
              <a:buNone/>
            </a:pPr>
            <a:r>
              <a:rPr lang="en-US" sz="1500" dirty="0">
                <a:solidFill>
                  <a:srgbClr val="55575A"/>
                </a:solidFill>
                <a:latin typeface="Roboto Condensed" pitchFamily="34" charset="0"/>
                <a:ea typeface="Roboto Condensed" pitchFamily="34" charset="-122"/>
                <a:cs typeface="Roboto Condensed" pitchFamily="34" charset="-120"/>
              </a:rPr>
              <a:t>Analyses behaviors using time-decay algorithms to sideline old data.</a:t>
            </a:r>
            <a:endParaRPr lang="en-US" sz="1500" dirty="0"/>
          </a:p>
        </p:txBody>
      </p:sp>
      <p:pic>
        <p:nvPicPr>
          <p:cNvPr id="12" name="Image 3" descr="preencoded.png">    </p:cNvPr>
          <p:cNvPicPr>
            <a:picLocks noChangeAspect="1"/>
          </p:cNvPicPr>
          <p:nvPr/>
        </p:nvPicPr>
        <p:blipFill>
          <a:blip r:embed="rId4"/>
          <a:stretch>
            <a:fillRect/>
          </a:stretch>
        </p:blipFill>
        <p:spPr>
          <a:xfrm>
            <a:off x="712351" y="4917519"/>
            <a:ext cx="956905" cy="1148239"/>
          </a:xfrm>
          <a:prstGeom prst="rect">
            <a:avLst/>
          </a:prstGeom>
        </p:spPr>
      </p:pic>
      <p:sp>
        <p:nvSpPr>
          <p:cNvPr id="13" name="Text 7"/>
          <p:cNvSpPr/>
          <p:nvPr/>
        </p:nvSpPr>
        <p:spPr>
          <a:xfrm>
            <a:off x="1830705" y="5108853"/>
            <a:ext cx="3552468" cy="298966"/>
          </a:xfrm>
          <a:prstGeom prst="rect">
            <a:avLst/>
          </a:prstGeom>
          <a:noFill/>
          <a:ln/>
        </p:spPr>
        <p:txBody>
          <a:bodyPr wrap="none" lIns="0" tIns="0" rIns="0" bIns="0" rtlCol="0" anchor="t"/>
          <a:lstStyle/>
          <a:p>
            <a:pPr algn="l" indent="0" marL="0">
              <a:lnSpc>
                <a:spcPts val="2350"/>
              </a:lnSpc>
              <a:buNone/>
            </a:pPr>
            <a:r>
              <a:rPr lang="en-US" sz="1850" b="1" dirty="0">
                <a:solidFill>
                  <a:srgbClr val="55575A"/>
                </a:solidFill>
                <a:latin typeface="Hubot Sans Bold" pitchFamily="34" charset="0"/>
                <a:ea typeface="Hubot Sans Bold" pitchFamily="34" charset="-122"/>
                <a:cs typeface="Hubot Sans Bold" pitchFamily="34" charset="-120"/>
              </a:rPr>
              <a:t>REINFORCEMENT TRACKER</a:t>
            </a:r>
            <a:endParaRPr lang="en-US" sz="1850" dirty="0"/>
          </a:p>
        </p:txBody>
      </p:sp>
      <p:sp>
        <p:nvSpPr>
          <p:cNvPr id="14" name="Text 8"/>
          <p:cNvSpPr/>
          <p:nvPr/>
        </p:nvSpPr>
        <p:spPr>
          <a:xfrm>
            <a:off x="1830705" y="5504617"/>
            <a:ext cx="12087225" cy="282178"/>
          </a:xfrm>
          <a:prstGeom prst="rect">
            <a:avLst/>
          </a:prstGeom>
          <a:noFill/>
          <a:ln/>
        </p:spPr>
        <p:txBody>
          <a:bodyPr wrap="none" lIns="0" tIns="0" rIns="0" bIns="0" rtlCol="0" anchor="t"/>
          <a:lstStyle/>
          <a:p>
            <a:pPr algn="l" indent="0" marL="0">
              <a:lnSpc>
                <a:spcPts val="2200"/>
              </a:lnSpc>
              <a:buNone/>
            </a:pPr>
            <a:r>
              <a:rPr lang="en-US" sz="1500" dirty="0">
                <a:solidFill>
                  <a:srgbClr val="55575A"/>
                </a:solidFill>
                <a:latin typeface="Roboto Condensed" pitchFamily="34" charset="0"/>
                <a:ea typeface="Roboto Condensed" pitchFamily="34" charset="-122"/>
                <a:cs typeface="Roboto Condensed" pitchFamily="34" charset="-120"/>
              </a:rPr>
              <a:t>Identifies and reinforces repeated user behaviors to keep relevant data alive.</a:t>
            </a:r>
            <a:endParaRPr lang="en-US" sz="1500" dirty="0"/>
          </a:p>
        </p:txBody>
      </p:sp>
      <p:pic>
        <p:nvPicPr>
          <p:cNvPr id="15" name="Image 4" descr="preencoded.png">    </p:cNvPr>
          <p:cNvPicPr>
            <a:picLocks noChangeAspect="1"/>
          </p:cNvPicPr>
          <p:nvPr/>
        </p:nvPicPr>
        <p:blipFill>
          <a:blip r:embed="rId5"/>
          <a:stretch>
            <a:fillRect/>
          </a:stretch>
        </p:blipFill>
        <p:spPr>
          <a:xfrm>
            <a:off x="712351" y="6065758"/>
            <a:ext cx="956905" cy="1148239"/>
          </a:xfrm>
          <a:prstGeom prst="rect">
            <a:avLst/>
          </a:prstGeom>
        </p:spPr>
      </p:pic>
      <p:sp>
        <p:nvSpPr>
          <p:cNvPr id="16" name="Text 9"/>
          <p:cNvSpPr/>
          <p:nvPr/>
        </p:nvSpPr>
        <p:spPr>
          <a:xfrm>
            <a:off x="1830705" y="6257092"/>
            <a:ext cx="2392323" cy="298966"/>
          </a:xfrm>
          <a:prstGeom prst="rect">
            <a:avLst/>
          </a:prstGeom>
          <a:noFill/>
          <a:ln/>
        </p:spPr>
        <p:txBody>
          <a:bodyPr wrap="none" lIns="0" tIns="0" rIns="0" bIns="0" rtlCol="0" anchor="t"/>
          <a:lstStyle/>
          <a:p>
            <a:pPr algn="l" indent="0" marL="0">
              <a:lnSpc>
                <a:spcPts val="2350"/>
              </a:lnSpc>
              <a:buNone/>
            </a:pPr>
            <a:r>
              <a:rPr lang="en-US" sz="1850" b="1" dirty="0">
                <a:solidFill>
                  <a:srgbClr val="55575A"/>
                </a:solidFill>
                <a:latin typeface="Hubot Sans Bold" pitchFamily="34" charset="0"/>
                <a:ea typeface="Hubot Sans Bold" pitchFamily="34" charset="-122"/>
                <a:cs typeface="Hubot Sans Bold" pitchFamily="34" charset="-120"/>
              </a:rPr>
              <a:t>QUERY ENGINE</a:t>
            </a:r>
            <a:endParaRPr lang="en-US" sz="1850" dirty="0"/>
          </a:p>
        </p:txBody>
      </p:sp>
      <p:sp>
        <p:nvSpPr>
          <p:cNvPr id="17" name="Text 10"/>
          <p:cNvSpPr/>
          <p:nvPr/>
        </p:nvSpPr>
        <p:spPr>
          <a:xfrm>
            <a:off x="1830705" y="6652855"/>
            <a:ext cx="12087225" cy="282178"/>
          </a:xfrm>
          <a:prstGeom prst="rect">
            <a:avLst/>
          </a:prstGeom>
          <a:noFill/>
          <a:ln/>
        </p:spPr>
        <p:txBody>
          <a:bodyPr wrap="none" lIns="0" tIns="0" rIns="0" bIns="0" rtlCol="0" anchor="t"/>
          <a:lstStyle/>
          <a:p>
            <a:pPr algn="l" indent="0" marL="0">
              <a:lnSpc>
                <a:spcPts val="2200"/>
              </a:lnSpc>
              <a:buNone/>
            </a:pPr>
            <a:r>
              <a:rPr lang="en-US" sz="1500" dirty="0">
                <a:solidFill>
                  <a:srgbClr val="55575A"/>
                </a:solidFill>
                <a:latin typeface="Roboto Condensed" pitchFamily="34" charset="0"/>
                <a:ea typeface="Roboto Condensed" pitchFamily="34" charset="-122"/>
                <a:cs typeface="Roboto Condensed" pitchFamily="34" charset="-120"/>
              </a:rPr>
              <a:t>Filters out expired traits and routes relevant data to consumer applications.</a:t>
            </a:r>
            <a:endParaRPr lang="en-US" sz="1500" dirty="0"/>
          </a:p>
        </p:txBody>
      </p:sp>
      <p:sp>
        <p:nvSpPr>
          <p:cNvPr id="18" name="Text 11"/>
          <p:cNvSpPr/>
          <p:nvPr/>
        </p:nvSpPr>
        <p:spPr>
          <a:xfrm>
            <a:off x="712351" y="7395567"/>
            <a:ext cx="13205579" cy="282178"/>
          </a:xfrm>
          <a:prstGeom prst="rect">
            <a:avLst/>
          </a:prstGeom>
          <a:noFill/>
          <a:ln/>
        </p:spPr>
        <p:txBody>
          <a:bodyPr wrap="none" lIns="0" tIns="0" rIns="0" bIns="0" rtlCol="0" anchor="t"/>
          <a:lstStyle/>
          <a:p>
            <a:pPr algn="l" indent="0" marL="0">
              <a:lnSpc>
                <a:spcPts val="2200"/>
              </a:lnSpc>
              <a:buNone/>
            </a:pPr>
            <a:r>
              <a:rPr lang="en-US" sz="1500" i="1" dirty="0">
                <a:solidFill>
                  <a:srgbClr val="55575A"/>
                </a:solidFill>
                <a:latin typeface="Roboto Condensed" pitchFamily="34" charset="0"/>
                <a:ea typeface="Roboto Condensed" pitchFamily="34" charset="-122"/>
                <a:cs typeface="Roboto Condensed" pitchFamily="34" charset="-120"/>
              </a:rPr>
              <a:t>Consumer applications include Streaming platforms, Job Portals, and E-Commerce systems.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051340" y="326946"/>
            <a:ext cx="6527721" cy="7119818"/>
          </a:xfrm>
          <a:prstGeom prst="rect">
            <a:avLst/>
          </a:prstGeom>
        </p:spPr>
      </p:pic>
      <p:sp>
        <p:nvSpPr>
          <p:cNvPr id="3" name="Text 0"/>
          <p:cNvSpPr/>
          <p:nvPr/>
        </p:nvSpPr>
        <p:spPr>
          <a:xfrm>
            <a:off x="3280172" y="7537133"/>
            <a:ext cx="2923937" cy="365522"/>
          </a:xfrm>
          <a:prstGeom prst="rect">
            <a:avLst/>
          </a:prstGeom>
          <a:noFill/>
          <a:ln/>
        </p:spPr>
        <p:txBody>
          <a:bodyPr wrap="none" lIns="0" tIns="0" rIns="0" bIns="0" rtlCol="0" anchor="t"/>
          <a:lstStyle/>
          <a:p>
            <a:pPr algn="l" indent="0" marL="0">
              <a:lnSpc>
                <a:spcPts val="2850"/>
              </a:lnSpc>
              <a:buNone/>
            </a:pPr>
            <a:endParaRPr lang="en-US" sz="2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796290"/>
            <a:ext cx="13042821" cy="1417558"/>
          </a:xfrm>
          <a:prstGeom prst="rect">
            <a:avLst/>
          </a:prstGeom>
          <a:noFill/>
          <a:ln/>
        </p:spPr>
        <p:txBody>
          <a:bodyPr wrap="square" lIns="0" tIns="0" rIns="0" bIns="0" rtlCol="0" anchor="t"/>
          <a:lstStyle/>
          <a:p>
            <a:pPr algn="l" indent="0" marL="0">
              <a:lnSpc>
                <a:spcPts val="5550"/>
              </a:lnSpc>
              <a:buNone/>
            </a:pPr>
            <a:r>
              <a:rPr lang="en-US" sz="4450" b="1" dirty="0">
                <a:solidFill>
                  <a:srgbClr val="0C0D0F"/>
                </a:solidFill>
                <a:latin typeface="Hubot Sans Bold" pitchFamily="34" charset="0"/>
                <a:ea typeface="Hubot Sans Bold" pitchFamily="34" charset="-122"/>
                <a:cs typeface="Hubot Sans Bold" pitchFamily="34" charset="-120"/>
              </a:rPr>
              <a:t>THE INNOVATIVE SOLUTION: BEHAVIOR-BASED EXPIRY</a:t>
            </a:r>
            <a:endParaRPr lang="en-US" sz="4450" dirty="0"/>
          </a:p>
        </p:txBody>
      </p:sp>
      <p:pic>
        <p:nvPicPr>
          <p:cNvPr id="3" name="Image 0" descr="preencoded.png">    </p:cNvPr>
          <p:cNvPicPr>
            <a:picLocks noChangeAspect="1"/>
          </p:cNvPicPr>
          <p:nvPr/>
        </p:nvPicPr>
        <p:blipFill>
          <a:blip r:embed="rId1"/>
          <a:stretch>
            <a:fillRect/>
          </a:stretch>
        </p:blipFill>
        <p:spPr>
          <a:xfrm>
            <a:off x="793790" y="2667476"/>
            <a:ext cx="2194560" cy="2194560"/>
          </a:xfrm>
          <a:prstGeom prst="rect">
            <a:avLst/>
          </a:prstGeom>
        </p:spPr>
      </p:pic>
      <p:sp>
        <p:nvSpPr>
          <p:cNvPr id="4" name="Text 1"/>
          <p:cNvSpPr/>
          <p:nvPr/>
        </p:nvSpPr>
        <p:spPr>
          <a:xfrm>
            <a:off x="793790" y="5145524"/>
            <a:ext cx="3048000" cy="1062990"/>
          </a:xfrm>
          <a:prstGeom prst="rect">
            <a:avLst/>
          </a:prstGeom>
          <a:noFill/>
          <a:ln/>
        </p:spPr>
        <p:txBody>
          <a:bodyPr wrap="square" lIns="0" tIns="0" rIns="0" bIns="0" rtlCol="0" anchor="t"/>
          <a:lstStyle/>
          <a:p>
            <a:pPr algn="l" indent="0" marL="0">
              <a:lnSpc>
                <a:spcPts val="2750"/>
              </a:lnSpc>
              <a:buNone/>
            </a:pPr>
            <a:r>
              <a:rPr lang="en-US" sz="2200" b="1" dirty="0">
                <a:solidFill>
                  <a:srgbClr val="55575A"/>
                </a:solidFill>
                <a:latin typeface="Hubot Sans Bold" pitchFamily="34" charset="0"/>
                <a:ea typeface="Hubot Sans Bold" pitchFamily="34" charset="-122"/>
                <a:cs typeface="Hubot Sans Bold" pitchFamily="34" charset="-120"/>
              </a:rPr>
              <a:t>BEHAVIORAL RELEVANCE TRACKING</a:t>
            </a:r>
            <a:endParaRPr lang="en-US" sz="2200" dirty="0"/>
          </a:p>
        </p:txBody>
      </p:sp>
      <p:sp>
        <p:nvSpPr>
          <p:cNvPr id="5" name="Text 2"/>
          <p:cNvSpPr/>
          <p:nvPr/>
        </p:nvSpPr>
        <p:spPr>
          <a:xfrm>
            <a:off x="793790" y="6344603"/>
            <a:ext cx="3048000" cy="1088708"/>
          </a:xfrm>
          <a:prstGeom prst="rect">
            <a:avLst/>
          </a:prstGeom>
          <a:noFill/>
          <a:ln/>
        </p:spPr>
        <p:txBody>
          <a:bodyPr wrap="square" lIns="0" tIns="0" rIns="0" bIns="0" rtlCol="0" anchor="t"/>
          <a:lstStyle/>
          <a:p>
            <a:pPr algn="l" indent="0" marL="0">
              <a:lnSpc>
                <a:spcPts val="2850"/>
              </a:lnSpc>
              <a:buNone/>
            </a:pPr>
            <a:r>
              <a:rPr lang="en-US" sz="1750" dirty="0">
                <a:solidFill>
                  <a:srgbClr val="55575A"/>
                </a:solidFill>
                <a:latin typeface="Roboto Condensed" pitchFamily="34" charset="0"/>
                <a:ea typeface="Roboto Condensed" pitchFamily="34" charset="-122"/>
                <a:cs typeface="Roboto Condensed" pitchFamily="34" charset="-120"/>
              </a:rPr>
              <a:t>Continuously assesses data importance based on shifting user patterns and preferences.</a:t>
            </a:r>
            <a:endParaRPr lang="en-US" sz="1750" dirty="0"/>
          </a:p>
        </p:txBody>
      </p:sp>
      <p:pic>
        <p:nvPicPr>
          <p:cNvPr id="6" name="Image 1" descr="preencoded.png">    </p:cNvPr>
          <p:cNvPicPr>
            <a:picLocks noChangeAspect="1"/>
          </p:cNvPicPr>
          <p:nvPr/>
        </p:nvPicPr>
        <p:blipFill>
          <a:blip r:embed="rId2"/>
          <a:stretch>
            <a:fillRect/>
          </a:stretch>
        </p:blipFill>
        <p:spPr>
          <a:xfrm>
            <a:off x="4125278" y="2667476"/>
            <a:ext cx="2194560" cy="2194560"/>
          </a:xfrm>
          <a:prstGeom prst="rect">
            <a:avLst/>
          </a:prstGeom>
        </p:spPr>
      </p:pic>
      <p:sp>
        <p:nvSpPr>
          <p:cNvPr id="7" name="Text 3"/>
          <p:cNvSpPr/>
          <p:nvPr/>
        </p:nvSpPr>
        <p:spPr>
          <a:xfrm>
            <a:off x="4125278" y="5145524"/>
            <a:ext cx="3048119" cy="708660"/>
          </a:xfrm>
          <a:prstGeom prst="rect">
            <a:avLst/>
          </a:prstGeom>
          <a:noFill/>
          <a:ln/>
        </p:spPr>
        <p:txBody>
          <a:bodyPr wrap="square" lIns="0" tIns="0" rIns="0" bIns="0" rtlCol="0" anchor="t"/>
          <a:lstStyle/>
          <a:p>
            <a:pPr algn="l" indent="0" marL="0">
              <a:lnSpc>
                <a:spcPts val="2750"/>
              </a:lnSpc>
              <a:buNone/>
            </a:pPr>
            <a:r>
              <a:rPr lang="en-US" sz="2200" b="1" dirty="0">
                <a:solidFill>
                  <a:srgbClr val="55575A"/>
                </a:solidFill>
                <a:latin typeface="Hubot Sans Bold" pitchFamily="34" charset="0"/>
                <a:ea typeface="Hubot Sans Bold" pitchFamily="34" charset="-122"/>
                <a:cs typeface="Hubot Sans Bold" pitchFamily="34" charset="-120"/>
              </a:rPr>
              <a:t>AUTOMATIC DATA DEGRADATION</a:t>
            </a:r>
            <a:endParaRPr lang="en-US" sz="2200" dirty="0"/>
          </a:p>
        </p:txBody>
      </p:sp>
      <p:sp>
        <p:nvSpPr>
          <p:cNvPr id="8" name="Text 4"/>
          <p:cNvSpPr/>
          <p:nvPr/>
        </p:nvSpPr>
        <p:spPr>
          <a:xfrm>
            <a:off x="4125278" y="5990273"/>
            <a:ext cx="3048119" cy="1088708"/>
          </a:xfrm>
          <a:prstGeom prst="rect">
            <a:avLst/>
          </a:prstGeom>
          <a:noFill/>
          <a:ln/>
        </p:spPr>
        <p:txBody>
          <a:bodyPr wrap="square" lIns="0" tIns="0" rIns="0" bIns="0" rtlCol="0" anchor="t"/>
          <a:lstStyle/>
          <a:p>
            <a:pPr algn="l" indent="0" marL="0">
              <a:lnSpc>
                <a:spcPts val="2850"/>
              </a:lnSpc>
              <a:buNone/>
            </a:pPr>
            <a:r>
              <a:rPr lang="en-US" sz="1750" dirty="0">
                <a:solidFill>
                  <a:srgbClr val="55575A"/>
                </a:solidFill>
                <a:latin typeface="Roboto Condensed" pitchFamily="34" charset="0"/>
                <a:ea typeface="Roboto Condensed" pitchFamily="34" charset="-122"/>
                <a:cs typeface="Roboto Condensed" pitchFamily="34" charset="-120"/>
              </a:rPr>
              <a:t>Gradually reduces the influence of older data using mathematical time-decay functions.</a:t>
            </a:r>
            <a:endParaRPr lang="en-US" sz="1750" dirty="0"/>
          </a:p>
        </p:txBody>
      </p:sp>
      <p:pic>
        <p:nvPicPr>
          <p:cNvPr id="9" name="Image 2" descr="preencoded.png">    </p:cNvPr>
          <p:cNvPicPr>
            <a:picLocks noChangeAspect="1"/>
          </p:cNvPicPr>
          <p:nvPr/>
        </p:nvPicPr>
        <p:blipFill>
          <a:blip r:embed="rId3"/>
          <a:stretch>
            <a:fillRect/>
          </a:stretch>
        </p:blipFill>
        <p:spPr>
          <a:xfrm>
            <a:off x="7456884" y="2667476"/>
            <a:ext cx="2194560" cy="2194560"/>
          </a:xfrm>
          <a:prstGeom prst="rect">
            <a:avLst/>
          </a:prstGeom>
        </p:spPr>
      </p:pic>
      <p:sp>
        <p:nvSpPr>
          <p:cNvPr id="10" name="Text 5"/>
          <p:cNvSpPr/>
          <p:nvPr/>
        </p:nvSpPr>
        <p:spPr>
          <a:xfrm>
            <a:off x="7456884" y="5145524"/>
            <a:ext cx="3048119" cy="708660"/>
          </a:xfrm>
          <a:prstGeom prst="rect">
            <a:avLst/>
          </a:prstGeom>
          <a:noFill/>
          <a:ln/>
        </p:spPr>
        <p:txBody>
          <a:bodyPr wrap="square" lIns="0" tIns="0" rIns="0" bIns="0" rtlCol="0" anchor="t"/>
          <a:lstStyle/>
          <a:p>
            <a:pPr algn="l" indent="0" marL="0">
              <a:lnSpc>
                <a:spcPts val="2750"/>
              </a:lnSpc>
              <a:buNone/>
            </a:pPr>
            <a:r>
              <a:rPr lang="en-US" sz="2200" b="1" dirty="0">
                <a:solidFill>
                  <a:srgbClr val="55575A"/>
                </a:solidFill>
                <a:latin typeface="Hubot Sans Bold" pitchFamily="34" charset="0"/>
                <a:ea typeface="Hubot Sans Bold" pitchFamily="34" charset="-122"/>
                <a:cs typeface="Hubot Sans Bold" pitchFamily="34" charset="-120"/>
              </a:rPr>
              <a:t>REINFORCEMENT-BASED SURVIVAL</a:t>
            </a:r>
            <a:endParaRPr lang="en-US" sz="2200" dirty="0"/>
          </a:p>
        </p:txBody>
      </p:sp>
      <p:sp>
        <p:nvSpPr>
          <p:cNvPr id="11" name="Text 6"/>
          <p:cNvSpPr/>
          <p:nvPr/>
        </p:nvSpPr>
        <p:spPr>
          <a:xfrm>
            <a:off x="7456884" y="5990273"/>
            <a:ext cx="3048119" cy="1088708"/>
          </a:xfrm>
          <a:prstGeom prst="rect">
            <a:avLst/>
          </a:prstGeom>
          <a:noFill/>
          <a:ln/>
        </p:spPr>
        <p:txBody>
          <a:bodyPr wrap="square" lIns="0" tIns="0" rIns="0" bIns="0" rtlCol="0" anchor="t"/>
          <a:lstStyle/>
          <a:p>
            <a:pPr algn="l" indent="0" marL="0">
              <a:lnSpc>
                <a:spcPts val="2850"/>
              </a:lnSpc>
              <a:buNone/>
            </a:pPr>
            <a:r>
              <a:rPr lang="en-US" sz="1750" dirty="0">
                <a:solidFill>
                  <a:srgbClr val="55575A"/>
                </a:solidFill>
                <a:latin typeface="Roboto Condensed" pitchFamily="34" charset="0"/>
                <a:ea typeface="Roboto Condensed" pitchFamily="34" charset="-122"/>
                <a:cs typeface="Roboto Condensed" pitchFamily="34" charset="-120"/>
              </a:rPr>
              <a:t>Retains data only if tied to repeated, ongoing user behaviors and interactions.</a:t>
            </a:r>
            <a:endParaRPr lang="en-US" sz="1750" dirty="0"/>
          </a:p>
        </p:txBody>
      </p:sp>
      <p:pic>
        <p:nvPicPr>
          <p:cNvPr id="12" name="Image 3" descr="preencoded.png">    </p:cNvPr>
          <p:cNvPicPr>
            <a:picLocks noChangeAspect="1"/>
          </p:cNvPicPr>
          <p:nvPr/>
        </p:nvPicPr>
        <p:blipFill>
          <a:blip r:embed="rId4"/>
          <a:stretch>
            <a:fillRect/>
          </a:stretch>
        </p:blipFill>
        <p:spPr>
          <a:xfrm>
            <a:off x="10788491" y="2667476"/>
            <a:ext cx="2194560" cy="2194560"/>
          </a:xfrm>
          <a:prstGeom prst="rect">
            <a:avLst/>
          </a:prstGeom>
        </p:spPr>
      </p:pic>
      <p:sp>
        <p:nvSpPr>
          <p:cNvPr id="13" name="Text 7"/>
          <p:cNvSpPr/>
          <p:nvPr/>
        </p:nvSpPr>
        <p:spPr>
          <a:xfrm>
            <a:off x="10788491" y="5145524"/>
            <a:ext cx="3048119" cy="708660"/>
          </a:xfrm>
          <a:prstGeom prst="rect">
            <a:avLst/>
          </a:prstGeom>
          <a:noFill/>
          <a:ln/>
        </p:spPr>
        <p:txBody>
          <a:bodyPr wrap="square" lIns="0" tIns="0" rIns="0" bIns="0" rtlCol="0" anchor="t"/>
          <a:lstStyle/>
          <a:p>
            <a:pPr algn="l" indent="0" marL="0">
              <a:lnSpc>
                <a:spcPts val="2750"/>
              </a:lnSpc>
              <a:buNone/>
            </a:pPr>
            <a:r>
              <a:rPr lang="en-US" sz="2200" b="1" dirty="0">
                <a:solidFill>
                  <a:srgbClr val="55575A"/>
                </a:solidFill>
                <a:latin typeface="Hubot Sans Bold" pitchFamily="34" charset="0"/>
                <a:ea typeface="Hubot Sans Bold" pitchFamily="34" charset="-122"/>
                <a:cs typeface="Hubot Sans Bold" pitchFamily="34" charset="-120"/>
              </a:rPr>
              <a:t>TIERED STORAGE EFFICIENCY</a:t>
            </a:r>
            <a:endParaRPr lang="en-US" sz="2200" dirty="0"/>
          </a:p>
        </p:txBody>
      </p:sp>
      <p:sp>
        <p:nvSpPr>
          <p:cNvPr id="14" name="Text 8"/>
          <p:cNvSpPr/>
          <p:nvPr/>
        </p:nvSpPr>
        <p:spPr>
          <a:xfrm>
            <a:off x="10788491" y="5990273"/>
            <a:ext cx="3048119" cy="1088708"/>
          </a:xfrm>
          <a:prstGeom prst="rect">
            <a:avLst/>
          </a:prstGeom>
          <a:noFill/>
          <a:ln/>
        </p:spPr>
        <p:txBody>
          <a:bodyPr wrap="square" lIns="0" tIns="0" rIns="0" bIns="0" rtlCol="0" anchor="t"/>
          <a:lstStyle/>
          <a:p>
            <a:pPr algn="l" indent="0" marL="0">
              <a:lnSpc>
                <a:spcPts val="2850"/>
              </a:lnSpc>
              <a:buNone/>
            </a:pPr>
            <a:r>
              <a:rPr lang="en-US" sz="1750" dirty="0">
                <a:solidFill>
                  <a:srgbClr val="55575A"/>
                </a:solidFill>
                <a:latin typeface="Roboto Condensed" pitchFamily="34" charset="0"/>
                <a:ea typeface="Roboto Condensed" pitchFamily="34" charset="-122"/>
                <a:cs typeface="Roboto Condensed" pitchFamily="34" charset="-120"/>
              </a:rPr>
              <a:t>Moves data through Hot, Warm, and Cold layers based on its freshness score.</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918210"/>
            <a:ext cx="13042821" cy="1417558"/>
          </a:xfrm>
          <a:prstGeom prst="rect">
            <a:avLst/>
          </a:prstGeom>
          <a:noFill/>
          <a:ln/>
        </p:spPr>
        <p:txBody>
          <a:bodyPr wrap="square" lIns="0" tIns="0" rIns="0" bIns="0" rtlCol="0" anchor="t"/>
          <a:lstStyle/>
          <a:p>
            <a:pPr algn="l" indent="0" marL="0">
              <a:lnSpc>
                <a:spcPts val="5550"/>
              </a:lnSpc>
              <a:buNone/>
            </a:pPr>
            <a:r>
              <a:rPr lang="en-US" sz="4450" b="1" dirty="0">
                <a:solidFill>
                  <a:srgbClr val="0C0D0F"/>
                </a:solidFill>
                <a:latin typeface="Hubot Sans Bold" pitchFamily="34" charset="0"/>
                <a:ea typeface="Hubot Sans Bold" pitchFamily="34" charset="-122"/>
                <a:cs typeface="Hubot Sans Bold" pitchFamily="34" charset="-120"/>
              </a:rPr>
              <a:t>LITERATURE SURVEY &amp; THE MISSING LINK</a:t>
            </a:r>
            <a:endParaRPr lang="en-US" sz="4450" dirty="0"/>
          </a:p>
        </p:txBody>
      </p:sp>
      <p:sp>
        <p:nvSpPr>
          <p:cNvPr id="3" name="Text 1"/>
          <p:cNvSpPr/>
          <p:nvPr/>
        </p:nvSpPr>
        <p:spPr>
          <a:xfrm>
            <a:off x="793790" y="2902744"/>
            <a:ext cx="6109335" cy="425291"/>
          </a:xfrm>
          <a:prstGeom prst="rect">
            <a:avLst/>
          </a:prstGeom>
          <a:noFill/>
          <a:ln/>
        </p:spPr>
        <p:txBody>
          <a:bodyPr wrap="none" lIns="0" tIns="0" rIns="0" bIns="0" rtlCol="0" anchor="t"/>
          <a:lstStyle/>
          <a:p>
            <a:pPr algn="l" indent="0" marL="0">
              <a:lnSpc>
                <a:spcPts val="3300"/>
              </a:lnSpc>
              <a:buNone/>
            </a:pPr>
            <a:r>
              <a:rPr lang="en-US" sz="2650" b="1" dirty="0">
                <a:solidFill>
                  <a:srgbClr val="0C0D0F"/>
                </a:solidFill>
                <a:latin typeface="Hubot Sans Bold" pitchFamily="34" charset="0"/>
                <a:ea typeface="Hubot Sans Bold" pitchFamily="34" charset="-122"/>
                <a:cs typeface="Hubot Sans Bold" pitchFamily="34" charset="-120"/>
              </a:rPr>
              <a:t>CURRENT RESEARCH LANDSCAPE</a:t>
            </a:r>
            <a:endParaRPr lang="en-US" sz="2650" dirty="0"/>
          </a:p>
        </p:txBody>
      </p:sp>
      <p:sp>
        <p:nvSpPr>
          <p:cNvPr id="4" name="Text 2"/>
          <p:cNvSpPr/>
          <p:nvPr/>
        </p:nvSpPr>
        <p:spPr>
          <a:xfrm>
            <a:off x="793790" y="3554849"/>
            <a:ext cx="7604284" cy="725805"/>
          </a:xfrm>
          <a:prstGeom prst="rect">
            <a:avLst/>
          </a:prstGeom>
          <a:noFill/>
          <a:ln/>
        </p:spPr>
        <p:txBody>
          <a:bodyPr wrap="square" lIns="0" tIns="0" rIns="0" bIns="0" rtlCol="0" anchor="t"/>
          <a:lstStyle/>
          <a:p>
            <a:pPr algn="l" indent="0" marL="0">
              <a:lnSpc>
                <a:spcPts val="2850"/>
              </a:lnSpc>
              <a:buNone/>
            </a:pPr>
            <a:r>
              <a:rPr lang="en-US" sz="1750" dirty="0">
                <a:solidFill>
                  <a:srgbClr val="55575A"/>
                </a:solidFill>
                <a:latin typeface="Roboto Condensed" pitchFamily="34" charset="0"/>
                <a:ea typeface="Roboto Condensed" pitchFamily="34" charset="-122"/>
                <a:cs typeface="Roboto Condensed" pitchFamily="34" charset="-120"/>
              </a:rPr>
              <a:t>Recent studies focus heavily on </a:t>
            </a:r>
            <a:pPr algn="l" indent="0" marL="0">
              <a:lnSpc>
                <a:spcPts val="2850"/>
              </a:lnSpc>
              <a:buNone/>
            </a:pPr>
            <a:r>
              <a:rPr lang="en-US" sz="1750" b="1" dirty="0">
                <a:solidFill>
                  <a:srgbClr val="151617"/>
                </a:solidFill>
                <a:latin typeface="Roboto Condensed" pitchFamily="34" charset="0"/>
                <a:ea typeface="Roboto Condensed" pitchFamily="34" charset="-122"/>
                <a:cs typeface="Roboto Condensed" pitchFamily="34" charset="-120"/>
              </a:rPr>
              <a:t>Time-Decay Collaborative Filtering (2024)</a:t>
            </a:r>
            <a:pPr algn="l" indent="0" marL="0">
              <a:lnSpc>
                <a:spcPts val="2850"/>
              </a:lnSpc>
              <a:buNone/>
            </a:pPr>
            <a:r>
              <a:rPr lang="en-US" sz="1750" dirty="0">
                <a:solidFill>
                  <a:srgbClr val="55575A"/>
                </a:solidFill>
                <a:latin typeface="Roboto Condensed" pitchFamily="34" charset="0"/>
                <a:ea typeface="Roboto Condensed" pitchFamily="34" charset="-122"/>
                <a:cs typeface="Roboto Condensed" pitchFamily="34" charset="-120"/>
              </a:rPr>
              <a:t> and </a:t>
            </a:r>
            <a:pPr algn="l" indent="0" marL="0">
              <a:lnSpc>
                <a:spcPts val="2850"/>
              </a:lnSpc>
              <a:buNone/>
            </a:pPr>
            <a:r>
              <a:rPr lang="en-US" sz="1750" b="1" dirty="0">
                <a:solidFill>
                  <a:srgbClr val="151617"/>
                </a:solidFill>
                <a:latin typeface="Roboto Condensed" pitchFamily="34" charset="0"/>
                <a:ea typeface="Roboto Condensed" pitchFamily="34" charset="-122"/>
                <a:cs typeface="Roboto Condensed" pitchFamily="34" charset="-120"/>
              </a:rPr>
              <a:t>Temporal Latent Sequential Networks (2021)</a:t>
            </a:r>
            <a:pPr algn="l" indent="0" marL="0">
              <a:lnSpc>
                <a:spcPts val="2850"/>
              </a:lnSpc>
              <a:buNone/>
            </a:pPr>
            <a:r>
              <a:rPr lang="en-US" sz="1750" dirty="0">
                <a:solidFill>
                  <a:srgbClr val="55575A"/>
                </a:solidFill>
                <a:latin typeface="Roboto Condensed" pitchFamily="34" charset="0"/>
                <a:ea typeface="Roboto Condensed" pitchFamily="34" charset="-122"/>
                <a:cs typeface="Roboto Condensed" pitchFamily="34" charset="-120"/>
              </a:rPr>
              <a:t>.</a:t>
            </a:r>
            <a:endParaRPr lang="en-US" sz="1750" dirty="0"/>
          </a:p>
        </p:txBody>
      </p:sp>
      <p:sp>
        <p:nvSpPr>
          <p:cNvPr id="5" name="Text 3"/>
          <p:cNvSpPr/>
          <p:nvPr/>
        </p:nvSpPr>
        <p:spPr>
          <a:xfrm>
            <a:off x="793790" y="4484727"/>
            <a:ext cx="7604284" cy="725805"/>
          </a:xfrm>
          <a:prstGeom prst="rect">
            <a:avLst/>
          </a:prstGeom>
          <a:noFill/>
          <a:ln/>
        </p:spPr>
        <p:txBody>
          <a:bodyPr wrap="square" lIns="0" tIns="0" rIns="0" bIns="0" rtlCol="0" anchor="t"/>
          <a:lstStyle/>
          <a:p>
            <a:pPr algn="l" indent="0" marL="0">
              <a:lnSpc>
                <a:spcPts val="2850"/>
              </a:lnSpc>
              <a:buNone/>
            </a:pPr>
            <a:r>
              <a:rPr lang="en-US" sz="1750" dirty="0">
                <a:solidFill>
                  <a:srgbClr val="55575A"/>
                </a:solidFill>
                <a:latin typeface="Roboto Condensed" pitchFamily="34" charset="0"/>
                <a:ea typeface="Roboto Condensed" pitchFamily="34" charset="-122"/>
                <a:cs typeface="Roboto Condensed" pitchFamily="34" charset="-120"/>
              </a:rPr>
              <a:t>Existing models excel at capturing time-based preference changes and temporal patterns in user behavior.</a:t>
            </a:r>
            <a:endParaRPr lang="en-US" sz="1750" dirty="0"/>
          </a:p>
        </p:txBody>
      </p:sp>
      <p:sp>
        <p:nvSpPr>
          <p:cNvPr id="6" name="Text 4"/>
          <p:cNvSpPr/>
          <p:nvPr/>
        </p:nvSpPr>
        <p:spPr>
          <a:xfrm>
            <a:off x="793790" y="5437346"/>
            <a:ext cx="3405068" cy="354330"/>
          </a:xfrm>
          <a:prstGeom prst="rect">
            <a:avLst/>
          </a:prstGeom>
          <a:noFill/>
          <a:ln/>
        </p:spPr>
        <p:txBody>
          <a:bodyPr wrap="none" lIns="0" tIns="0" rIns="0" bIns="0" rtlCol="0" anchor="t"/>
          <a:lstStyle/>
          <a:p>
            <a:pPr algn="l" indent="0" marL="0">
              <a:lnSpc>
                <a:spcPts val="2750"/>
              </a:lnSpc>
              <a:buNone/>
            </a:pPr>
            <a:r>
              <a:rPr lang="en-US" sz="2200" b="1" dirty="0">
                <a:solidFill>
                  <a:srgbClr val="0C0D0F"/>
                </a:solidFill>
                <a:latin typeface="Hubot Sans Bold" pitchFamily="34" charset="0"/>
                <a:ea typeface="Hubot Sans Bold" pitchFamily="34" charset="-122"/>
                <a:cs typeface="Hubot Sans Bold" pitchFamily="34" charset="-120"/>
              </a:rPr>
              <a:t>THE BEHAVIORAL GAP</a:t>
            </a:r>
            <a:endParaRPr lang="en-US" sz="2200" dirty="0"/>
          </a:p>
        </p:txBody>
      </p:sp>
      <p:sp>
        <p:nvSpPr>
          <p:cNvPr id="7" name="Text 5"/>
          <p:cNvSpPr/>
          <p:nvPr/>
        </p:nvSpPr>
        <p:spPr>
          <a:xfrm>
            <a:off x="793790" y="6018490"/>
            <a:ext cx="7604284" cy="1088708"/>
          </a:xfrm>
          <a:prstGeom prst="rect">
            <a:avLst/>
          </a:prstGeom>
          <a:noFill/>
          <a:ln/>
        </p:spPr>
        <p:txBody>
          <a:bodyPr wrap="square" lIns="0" tIns="0" rIns="0" bIns="0" rtlCol="0" anchor="t"/>
          <a:lstStyle/>
          <a:p>
            <a:pPr algn="l" indent="0" marL="0">
              <a:lnSpc>
                <a:spcPts val="2850"/>
              </a:lnSpc>
              <a:buNone/>
            </a:pPr>
            <a:r>
              <a:rPr lang="en-US" sz="1750" dirty="0">
                <a:solidFill>
                  <a:srgbClr val="55575A"/>
                </a:solidFill>
                <a:latin typeface="Roboto Condensed" pitchFamily="34" charset="0"/>
                <a:ea typeface="Roboto Condensed" pitchFamily="34" charset="-122"/>
                <a:cs typeface="Roboto Condensed" pitchFamily="34" charset="-120"/>
              </a:rPr>
              <a:t>Most methods rely purely on time weighting. They severely lack the behavioral reinforcement mechanisms required to accurately model complex user patterns over time.</a:t>
            </a:r>
            <a:endParaRPr lang="en-US" sz="1750" dirty="0"/>
          </a:p>
        </p:txBody>
      </p:sp>
      <p:pic>
        <p:nvPicPr>
          <p:cNvPr id="8" name="Image 0" descr="preencoded.png">    </p:cNvPr>
          <p:cNvPicPr>
            <a:picLocks noChangeAspect="1"/>
          </p:cNvPicPr>
          <p:nvPr/>
        </p:nvPicPr>
        <p:blipFill>
          <a:blip r:embed="rId1"/>
          <a:stretch>
            <a:fillRect/>
          </a:stretch>
        </p:blipFill>
        <p:spPr>
          <a:xfrm>
            <a:off x="8959096" y="3609499"/>
            <a:ext cx="4885015" cy="276808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56246" y="609005"/>
            <a:ext cx="7804309" cy="1196102"/>
          </a:xfrm>
          <a:prstGeom prst="rect">
            <a:avLst/>
          </a:prstGeom>
          <a:noFill/>
          <a:ln/>
        </p:spPr>
        <p:txBody>
          <a:bodyPr wrap="square" lIns="0" tIns="0" rIns="0" bIns="0" rtlCol="0" anchor="t"/>
          <a:lstStyle/>
          <a:p>
            <a:pPr algn="l" indent="0" marL="0">
              <a:lnSpc>
                <a:spcPts val="4700"/>
              </a:lnSpc>
              <a:buNone/>
            </a:pPr>
            <a:r>
              <a:rPr lang="en-US" sz="3750" b="1" dirty="0">
                <a:solidFill>
                  <a:srgbClr val="0C0D0F"/>
                </a:solidFill>
                <a:latin typeface="Hubot Sans Bold" pitchFamily="34" charset="0"/>
                <a:ea typeface="Hubot Sans Bold" pitchFamily="34" charset="-122"/>
                <a:cs typeface="Hubot Sans Bold" pitchFamily="34" charset="-120"/>
              </a:rPr>
              <a:t>CONCLUSION &amp; PROJECT OUTCOMES</a:t>
            </a:r>
            <a:endParaRPr lang="en-US" sz="3750" dirty="0"/>
          </a:p>
        </p:txBody>
      </p:sp>
      <p:sp>
        <p:nvSpPr>
          <p:cNvPr id="4" name="Shape 1"/>
          <p:cNvSpPr/>
          <p:nvPr/>
        </p:nvSpPr>
        <p:spPr>
          <a:xfrm>
            <a:off x="6156246" y="2047280"/>
            <a:ext cx="7804309" cy="1342787"/>
          </a:xfrm>
          <a:prstGeom prst="roundRect">
            <a:avLst>
              <a:gd name="adj" fmla="val 2138"/>
            </a:avLst>
          </a:prstGeom>
          <a:solidFill>
            <a:srgbClr val="C8CAC1">
              <a:alpha val="50000"/>
            </a:srgbClr>
          </a:solidFill>
          <a:ln/>
        </p:spPr>
      </p:sp>
      <p:sp>
        <p:nvSpPr>
          <p:cNvPr id="5" name="Text 2"/>
          <p:cNvSpPr/>
          <p:nvPr/>
        </p:nvSpPr>
        <p:spPr>
          <a:xfrm>
            <a:off x="6347579" y="2238613"/>
            <a:ext cx="2937153" cy="298966"/>
          </a:xfrm>
          <a:prstGeom prst="rect">
            <a:avLst/>
          </a:prstGeom>
          <a:noFill/>
          <a:ln/>
        </p:spPr>
        <p:txBody>
          <a:bodyPr wrap="none" lIns="0" tIns="0" rIns="0" bIns="0" rtlCol="0" anchor="t"/>
          <a:lstStyle/>
          <a:p>
            <a:pPr algn="l" indent="0" marL="0">
              <a:lnSpc>
                <a:spcPts val="2350"/>
              </a:lnSpc>
              <a:buNone/>
            </a:pPr>
            <a:r>
              <a:rPr lang="en-US" sz="1850" b="1" dirty="0">
                <a:solidFill>
                  <a:srgbClr val="000000"/>
                </a:solidFill>
                <a:latin typeface="Hubot Sans Bold" pitchFamily="34" charset="0"/>
                <a:ea typeface="Hubot Sans Bold" pitchFamily="34" charset="-122"/>
                <a:cs typeface="Hubot Sans Bold" pitchFamily="34" charset="-120"/>
              </a:rPr>
              <a:t>ENHANCED ACCURACY</a:t>
            </a:r>
            <a:endParaRPr lang="en-US" sz="1850" dirty="0"/>
          </a:p>
        </p:txBody>
      </p:sp>
      <p:sp>
        <p:nvSpPr>
          <p:cNvPr id="6" name="Text 3"/>
          <p:cNvSpPr/>
          <p:nvPr/>
        </p:nvSpPr>
        <p:spPr>
          <a:xfrm>
            <a:off x="6347579" y="2634377"/>
            <a:ext cx="7421642" cy="564356"/>
          </a:xfrm>
          <a:prstGeom prst="rect">
            <a:avLst/>
          </a:prstGeom>
          <a:noFill/>
          <a:ln/>
        </p:spPr>
        <p:txBody>
          <a:bodyPr wrap="square" lIns="0" tIns="0" rIns="0" bIns="0" rtlCol="0" anchor="t"/>
          <a:lstStyle/>
          <a:p>
            <a:pPr algn="l" indent="0" marL="0">
              <a:lnSpc>
                <a:spcPts val="2200"/>
              </a:lnSpc>
              <a:buNone/>
            </a:pPr>
            <a:r>
              <a:rPr lang="en-US" sz="1500" dirty="0">
                <a:solidFill>
                  <a:srgbClr val="000000"/>
                </a:solidFill>
                <a:latin typeface="Roboto Condensed" pitchFamily="34" charset="0"/>
                <a:ea typeface="Roboto Condensed" pitchFamily="34" charset="-122"/>
                <a:cs typeface="Roboto Condensed" pitchFamily="34" charset="-120"/>
              </a:rPr>
              <a:t>Focusing strictly on relevant, recent data drastically improves the precision of recommendations and predictions.</a:t>
            </a:r>
            <a:endParaRPr lang="en-US" sz="1500" dirty="0"/>
          </a:p>
        </p:txBody>
      </p:sp>
      <p:sp>
        <p:nvSpPr>
          <p:cNvPr id="7" name="Shape 4"/>
          <p:cNvSpPr/>
          <p:nvPr/>
        </p:nvSpPr>
        <p:spPr>
          <a:xfrm>
            <a:off x="6156246" y="3551515"/>
            <a:ext cx="7804309" cy="1342787"/>
          </a:xfrm>
          <a:prstGeom prst="roundRect">
            <a:avLst>
              <a:gd name="adj" fmla="val 2138"/>
            </a:avLst>
          </a:prstGeom>
          <a:solidFill>
            <a:srgbClr val="C8CAC1">
              <a:alpha val="50000"/>
            </a:srgbClr>
          </a:solidFill>
          <a:ln/>
        </p:spPr>
      </p:sp>
      <p:sp>
        <p:nvSpPr>
          <p:cNvPr id="8" name="Text 5"/>
          <p:cNvSpPr/>
          <p:nvPr/>
        </p:nvSpPr>
        <p:spPr>
          <a:xfrm>
            <a:off x="6347579" y="3742849"/>
            <a:ext cx="3464243" cy="298966"/>
          </a:xfrm>
          <a:prstGeom prst="rect">
            <a:avLst/>
          </a:prstGeom>
          <a:noFill/>
          <a:ln/>
        </p:spPr>
        <p:txBody>
          <a:bodyPr wrap="none" lIns="0" tIns="0" rIns="0" bIns="0" rtlCol="0" anchor="t"/>
          <a:lstStyle/>
          <a:p>
            <a:pPr algn="l" indent="0" marL="0">
              <a:lnSpc>
                <a:spcPts val="2350"/>
              </a:lnSpc>
              <a:buNone/>
            </a:pPr>
            <a:r>
              <a:rPr lang="en-US" sz="1850" b="1" dirty="0">
                <a:solidFill>
                  <a:srgbClr val="000000"/>
                </a:solidFill>
                <a:latin typeface="Hubot Sans Bold" pitchFamily="34" charset="0"/>
                <a:ea typeface="Hubot Sans Bold" pitchFamily="34" charset="-122"/>
                <a:cs typeface="Hubot Sans Bold" pitchFamily="34" charset="-120"/>
              </a:rPr>
              <a:t>BETTER USER EXPERIENCE</a:t>
            </a:r>
            <a:endParaRPr lang="en-US" sz="1850" dirty="0"/>
          </a:p>
        </p:txBody>
      </p:sp>
      <p:sp>
        <p:nvSpPr>
          <p:cNvPr id="9" name="Text 6"/>
          <p:cNvSpPr/>
          <p:nvPr/>
        </p:nvSpPr>
        <p:spPr>
          <a:xfrm>
            <a:off x="6347579" y="4138613"/>
            <a:ext cx="7421642" cy="564356"/>
          </a:xfrm>
          <a:prstGeom prst="rect">
            <a:avLst/>
          </a:prstGeom>
          <a:noFill/>
          <a:ln/>
        </p:spPr>
        <p:txBody>
          <a:bodyPr wrap="square" lIns="0" tIns="0" rIns="0" bIns="0" rtlCol="0" anchor="t"/>
          <a:lstStyle/>
          <a:p>
            <a:pPr algn="l" indent="0" marL="0">
              <a:lnSpc>
                <a:spcPts val="2200"/>
              </a:lnSpc>
              <a:buNone/>
            </a:pPr>
            <a:r>
              <a:rPr lang="en-US" sz="1500" dirty="0">
                <a:solidFill>
                  <a:srgbClr val="000000"/>
                </a:solidFill>
                <a:latin typeface="Roboto Condensed" pitchFamily="34" charset="0"/>
                <a:ea typeface="Roboto Condensed" pitchFamily="34" charset="-122"/>
                <a:cs typeface="Roboto Condensed" pitchFamily="34" charset="-120"/>
              </a:rPr>
              <a:t>Highly accurate recommendations lead to increased engagement and satisfaction in consumer applications.</a:t>
            </a:r>
            <a:endParaRPr lang="en-US" sz="1500" dirty="0"/>
          </a:p>
        </p:txBody>
      </p:sp>
      <p:sp>
        <p:nvSpPr>
          <p:cNvPr id="10" name="Shape 7"/>
          <p:cNvSpPr/>
          <p:nvPr/>
        </p:nvSpPr>
        <p:spPr>
          <a:xfrm>
            <a:off x="6156246" y="5055751"/>
            <a:ext cx="7804309" cy="1060609"/>
          </a:xfrm>
          <a:prstGeom prst="roundRect">
            <a:avLst>
              <a:gd name="adj" fmla="val 2707"/>
            </a:avLst>
          </a:prstGeom>
          <a:solidFill>
            <a:srgbClr val="C8CAC1">
              <a:alpha val="50000"/>
            </a:srgbClr>
          </a:solidFill>
          <a:ln/>
        </p:spPr>
      </p:sp>
      <p:sp>
        <p:nvSpPr>
          <p:cNvPr id="11" name="Text 8"/>
          <p:cNvSpPr/>
          <p:nvPr/>
        </p:nvSpPr>
        <p:spPr>
          <a:xfrm>
            <a:off x="6347579" y="5247084"/>
            <a:ext cx="2392323" cy="298966"/>
          </a:xfrm>
          <a:prstGeom prst="rect">
            <a:avLst/>
          </a:prstGeom>
          <a:noFill/>
          <a:ln/>
        </p:spPr>
        <p:txBody>
          <a:bodyPr wrap="none" lIns="0" tIns="0" rIns="0" bIns="0" rtlCol="0" anchor="t"/>
          <a:lstStyle/>
          <a:p>
            <a:pPr algn="l" indent="0" marL="0">
              <a:lnSpc>
                <a:spcPts val="2350"/>
              </a:lnSpc>
              <a:buNone/>
            </a:pPr>
            <a:r>
              <a:rPr lang="en-US" sz="1850" b="1" dirty="0">
                <a:solidFill>
                  <a:srgbClr val="000000"/>
                </a:solidFill>
                <a:latin typeface="Hubot Sans Bold" pitchFamily="34" charset="0"/>
                <a:ea typeface="Hubot Sans Bold" pitchFamily="34" charset="-122"/>
                <a:cs typeface="Hubot Sans Bold" pitchFamily="34" charset="-120"/>
              </a:rPr>
              <a:t>DATA EFFICIENCY</a:t>
            </a:r>
            <a:endParaRPr lang="en-US" sz="1850" dirty="0"/>
          </a:p>
        </p:txBody>
      </p:sp>
      <p:sp>
        <p:nvSpPr>
          <p:cNvPr id="12" name="Text 9"/>
          <p:cNvSpPr/>
          <p:nvPr/>
        </p:nvSpPr>
        <p:spPr>
          <a:xfrm>
            <a:off x="6347579" y="5642848"/>
            <a:ext cx="7421642" cy="282178"/>
          </a:xfrm>
          <a:prstGeom prst="rect">
            <a:avLst/>
          </a:prstGeom>
          <a:noFill/>
          <a:ln/>
        </p:spPr>
        <p:txBody>
          <a:bodyPr wrap="none" lIns="0" tIns="0" rIns="0" bIns="0" rtlCol="0" anchor="t"/>
          <a:lstStyle/>
          <a:p>
            <a:pPr algn="l" indent="0" marL="0">
              <a:lnSpc>
                <a:spcPts val="2200"/>
              </a:lnSpc>
              <a:buNone/>
            </a:pPr>
            <a:r>
              <a:rPr lang="en-US" sz="1500" dirty="0">
                <a:solidFill>
                  <a:srgbClr val="000000"/>
                </a:solidFill>
                <a:latin typeface="Roboto Condensed" pitchFamily="34" charset="0"/>
                <a:ea typeface="Roboto Condensed" pitchFamily="34" charset="-122"/>
                <a:cs typeface="Roboto Condensed" pitchFamily="34" charset="-120"/>
              </a:rPr>
              <a:t>Automatic expiry significantly reduces server storage needs and cuts operational costs.</a:t>
            </a:r>
            <a:endParaRPr lang="en-US" sz="1500" dirty="0"/>
          </a:p>
        </p:txBody>
      </p:sp>
      <p:sp>
        <p:nvSpPr>
          <p:cNvPr id="13" name="Shape 10"/>
          <p:cNvSpPr/>
          <p:nvPr/>
        </p:nvSpPr>
        <p:spPr>
          <a:xfrm>
            <a:off x="6156246" y="6277808"/>
            <a:ext cx="7804309" cy="1342787"/>
          </a:xfrm>
          <a:prstGeom prst="roundRect">
            <a:avLst>
              <a:gd name="adj" fmla="val 2138"/>
            </a:avLst>
          </a:prstGeom>
          <a:solidFill>
            <a:srgbClr val="C8CAC1">
              <a:alpha val="50000"/>
            </a:srgbClr>
          </a:solidFill>
          <a:ln/>
        </p:spPr>
      </p:sp>
      <p:sp>
        <p:nvSpPr>
          <p:cNvPr id="14" name="Text 11"/>
          <p:cNvSpPr/>
          <p:nvPr/>
        </p:nvSpPr>
        <p:spPr>
          <a:xfrm>
            <a:off x="6347579" y="6469142"/>
            <a:ext cx="2670572" cy="298966"/>
          </a:xfrm>
          <a:prstGeom prst="rect">
            <a:avLst/>
          </a:prstGeom>
          <a:noFill/>
          <a:ln/>
        </p:spPr>
        <p:txBody>
          <a:bodyPr wrap="none" lIns="0" tIns="0" rIns="0" bIns="0" rtlCol="0" anchor="t"/>
          <a:lstStyle/>
          <a:p>
            <a:pPr algn="l" indent="0" marL="0">
              <a:lnSpc>
                <a:spcPts val="2350"/>
              </a:lnSpc>
              <a:buNone/>
            </a:pPr>
            <a:r>
              <a:rPr lang="en-US" sz="1850" b="1" dirty="0">
                <a:solidFill>
                  <a:srgbClr val="000000"/>
                </a:solidFill>
                <a:latin typeface="Hubot Sans Bold" pitchFamily="34" charset="0"/>
                <a:ea typeface="Hubot Sans Bold" pitchFamily="34" charset="-122"/>
                <a:cs typeface="Hubot Sans Bold" pitchFamily="34" charset="-120"/>
              </a:rPr>
              <a:t>UPGRADED PRIVACY</a:t>
            </a:r>
            <a:endParaRPr lang="en-US" sz="1850" dirty="0"/>
          </a:p>
        </p:txBody>
      </p:sp>
      <p:sp>
        <p:nvSpPr>
          <p:cNvPr id="15" name="Text 12"/>
          <p:cNvSpPr/>
          <p:nvPr/>
        </p:nvSpPr>
        <p:spPr>
          <a:xfrm>
            <a:off x="6347579" y="6864906"/>
            <a:ext cx="7421642" cy="564356"/>
          </a:xfrm>
          <a:prstGeom prst="rect">
            <a:avLst/>
          </a:prstGeom>
          <a:noFill/>
          <a:ln/>
        </p:spPr>
        <p:txBody>
          <a:bodyPr wrap="square" lIns="0" tIns="0" rIns="0" bIns="0" rtlCol="0" anchor="t"/>
          <a:lstStyle/>
          <a:p>
            <a:pPr algn="l" indent="0" marL="0">
              <a:lnSpc>
                <a:spcPts val="2200"/>
              </a:lnSpc>
              <a:buNone/>
            </a:pPr>
            <a:r>
              <a:rPr lang="en-US" sz="1500" dirty="0">
                <a:solidFill>
                  <a:srgbClr val="000000"/>
                </a:solidFill>
                <a:latin typeface="Roboto Condensed" pitchFamily="34" charset="0"/>
                <a:ea typeface="Roboto Condensed" pitchFamily="34" charset="-122"/>
                <a:cs typeface="Roboto Condensed" pitchFamily="34" charset="-120"/>
              </a:rPr>
              <a:t>Limiting data retention inherently protects user privacy and supports smarter, safer data management practices.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323737" y="611029"/>
            <a:ext cx="11982807" cy="245269"/>
          </a:xfrm>
          <a:prstGeom prst="rect">
            <a:avLst/>
          </a:prstGeom>
          <a:noFill/>
          <a:ln/>
        </p:spPr>
        <p:txBody>
          <a:bodyPr wrap="none" lIns="0" tIns="0" rIns="0" bIns="0" rtlCol="0" anchor="t"/>
          <a:lstStyle/>
          <a:p>
            <a:pPr algn="l" indent="0" marL="0">
              <a:lnSpc>
                <a:spcPts val="1900"/>
              </a:lnSpc>
              <a:buNone/>
            </a:pPr>
            <a:r>
              <a:rPr lang="en-US" sz="1350" dirty="0">
                <a:solidFill>
                  <a:srgbClr val="55575A"/>
                </a:solidFill>
                <a:latin typeface="Roboto Condensed" pitchFamily="34" charset="0"/>
                <a:ea typeface="Roboto Condensed" pitchFamily="34" charset="-122"/>
                <a:cs typeface="Roboto Condensed" pitchFamily="34" charset="-120"/>
              </a:rPr>
              <a:t>Login Pages for ABDEE Platform &amp; Streaming Platform</a:t>
            </a:r>
            <a:endParaRPr lang="en-US" sz="1350" dirty="0"/>
          </a:p>
        </p:txBody>
      </p:sp>
      <p:pic>
        <p:nvPicPr>
          <p:cNvPr id="3" name="Image 0" descr="preencoded.png">    </p:cNvPr>
          <p:cNvPicPr>
            <a:picLocks noChangeAspect="1"/>
          </p:cNvPicPr>
          <p:nvPr/>
        </p:nvPicPr>
        <p:blipFill>
          <a:blip r:embed="rId1"/>
          <a:stretch>
            <a:fillRect/>
          </a:stretch>
        </p:blipFill>
        <p:spPr>
          <a:xfrm>
            <a:off x="1323737" y="1155382"/>
            <a:ext cx="6275784" cy="2773085"/>
          </a:xfrm>
          <a:prstGeom prst="rect">
            <a:avLst/>
          </a:prstGeom>
        </p:spPr>
      </p:pic>
      <p:sp>
        <p:nvSpPr>
          <p:cNvPr id="4" name="Text 1"/>
          <p:cNvSpPr/>
          <p:nvPr/>
        </p:nvSpPr>
        <p:spPr>
          <a:xfrm>
            <a:off x="8030766" y="1125498"/>
            <a:ext cx="5283279" cy="245269"/>
          </a:xfrm>
          <a:prstGeom prst="rect">
            <a:avLst/>
          </a:prstGeom>
          <a:noFill/>
          <a:ln/>
        </p:spPr>
        <p:txBody>
          <a:bodyPr wrap="none" lIns="0" tIns="0" rIns="0" bIns="0" rtlCol="0" anchor="t"/>
          <a:lstStyle/>
          <a:p>
            <a:pPr algn="l" indent="0" marL="0">
              <a:lnSpc>
                <a:spcPts val="1900"/>
              </a:lnSpc>
              <a:buNone/>
            </a:pPr>
            <a:r>
              <a:rPr lang="en-US" sz="1350" dirty="0">
                <a:solidFill>
                  <a:srgbClr val="55575A"/>
                </a:solidFill>
                <a:latin typeface="Roboto Condensed" pitchFamily="34" charset="0"/>
                <a:ea typeface="Roboto Condensed" pitchFamily="34" charset="-122"/>
                <a:cs typeface="Roboto Condensed" pitchFamily="34" charset="-120"/>
              </a:rPr>
              <a:t>Dashboard for ABDEE platform which is used for logging in to the project</a:t>
            </a:r>
            <a:endParaRPr lang="en-US" sz="1350" dirty="0"/>
          </a:p>
        </p:txBody>
      </p:sp>
      <p:pic>
        <p:nvPicPr>
          <p:cNvPr id="5" name="Image 1" descr="preencoded.png">    </p:cNvPr>
          <p:cNvPicPr>
            <a:picLocks noChangeAspect="1"/>
          </p:cNvPicPr>
          <p:nvPr/>
        </p:nvPicPr>
        <p:blipFill>
          <a:blip r:embed="rId2"/>
          <a:stretch>
            <a:fillRect/>
          </a:stretch>
        </p:blipFill>
        <p:spPr>
          <a:xfrm>
            <a:off x="1323737" y="4377095"/>
            <a:ext cx="7268289" cy="3211592"/>
          </a:xfrm>
          <a:prstGeom prst="rect">
            <a:avLst/>
          </a:prstGeom>
        </p:spPr>
      </p:pic>
      <p:sp>
        <p:nvSpPr>
          <p:cNvPr id="6" name="Text 2"/>
          <p:cNvSpPr/>
          <p:nvPr/>
        </p:nvSpPr>
        <p:spPr>
          <a:xfrm>
            <a:off x="9023271" y="4347210"/>
            <a:ext cx="4290774" cy="735806"/>
          </a:xfrm>
          <a:prstGeom prst="rect">
            <a:avLst/>
          </a:prstGeom>
          <a:noFill/>
          <a:ln/>
        </p:spPr>
        <p:txBody>
          <a:bodyPr wrap="square" lIns="0" tIns="0" rIns="0" bIns="0" rtlCol="0" anchor="t"/>
          <a:lstStyle/>
          <a:p>
            <a:pPr algn="l" indent="0" marL="0">
              <a:lnSpc>
                <a:spcPts val="1900"/>
              </a:lnSpc>
              <a:buNone/>
            </a:pPr>
            <a:r>
              <a:rPr lang="en-US" sz="1350" dirty="0">
                <a:solidFill>
                  <a:srgbClr val="55575A"/>
                </a:solidFill>
                <a:latin typeface="Roboto Condensed" pitchFamily="34" charset="0"/>
                <a:ea typeface="Roboto Condensed" pitchFamily="34" charset="-122"/>
                <a:cs typeface="Roboto Condensed" pitchFamily="34" charset="-120"/>
              </a:rPr>
              <a:t>the initial user interface of the PandaStream application, which serves as the consumer-facing module of the proposed system</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2057400" y="429935"/>
            <a:ext cx="3810000" cy="476250"/>
          </a:xfrm>
          <a:prstGeom prst="rect">
            <a:avLst/>
          </a:prstGeom>
          <a:noFill/>
          <a:ln/>
        </p:spPr>
        <p:txBody>
          <a:bodyPr wrap="none" lIns="0" tIns="0" rIns="0" bIns="0" rtlCol="0" anchor="t"/>
          <a:lstStyle/>
          <a:p>
            <a:pPr algn="l" indent="0" marL="0">
              <a:lnSpc>
                <a:spcPts val="3750"/>
              </a:lnSpc>
              <a:buNone/>
            </a:pPr>
            <a:r>
              <a:rPr lang="en-US" sz="3000" b="1" dirty="0">
                <a:solidFill>
                  <a:srgbClr val="0C0D0F"/>
                </a:solidFill>
                <a:latin typeface="Hubot Sans Bold" pitchFamily="34" charset="0"/>
                <a:ea typeface="Hubot Sans Bold" pitchFamily="34" charset="-122"/>
                <a:cs typeface="Hubot Sans Bold" pitchFamily="34" charset="-120"/>
              </a:rPr>
              <a:t>RESULTS</a:t>
            </a:r>
            <a:endParaRPr lang="en-US" sz="3000" dirty="0"/>
          </a:p>
        </p:txBody>
      </p:sp>
      <p:sp>
        <p:nvSpPr>
          <p:cNvPr id="3" name="Text 1"/>
          <p:cNvSpPr/>
          <p:nvPr/>
        </p:nvSpPr>
        <p:spPr>
          <a:xfrm>
            <a:off x="2057400" y="1110972"/>
            <a:ext cx="10515600" cy="203835"/>
          </a:xfrm>
          <a:prstGeom prst="rect">
            <a:avLst/>
          </a:prstGeom>
          <a:noFill/>
          <a:ln/>
        </p:spPr>
        <p:txBody>
          <a:bodyPr wrap="none" lIns="0" tIns="0" rIns="0" bIns="0" rtlCol="0" anchor="t"/>
          <a:lstStyle/>
          <a:p>
            <a:pPr algn="l" indent="0" marL="0">
              <a:lnSpc>
                <a:spcPts val="1600"/>
              </a:lnSpc>
              <a:buNone/>
            </a:pPr>
            <a:r>
              <a:rPr lang="en-US" sz="1200" dirty="0">
                <a:solidFill>
                  <a:srgbClr val="55575A"/>
                </a:solidFill>
                <a:latin typeface="Roboto Condensed" pitchFamily="34" charset="0"/>
                <a:ea typeface="Roboto Condensed" pitchFamily="34" charset="-122"/>
                <a:cs typeface="Roboto Condensed" pitchFamily="34" charset="-120"/>
              </a:rPr>
              <a:t>ABDEE Dashboard</a:t>
            </a:r>
            <a:endParaRPr lang="en-US" sz="1200" dirty="0"/>
          </a:p>
        </p:txBody>
      </p:sp>
      <p:pic>
        <p:nvPicPr>
          <p:cNvPr id="4" name="Image 0" descr="preencoded.png">    </p:cNvPr>
          <p:cNvPicPr>
            <a:picLocks noChangeAspect="1"/>
          </p:cNvPicPr>
          <p:nvPr/>
        </p:nvPicPr>
        <p:blipFill>
          <a:blip r:embed="rId1"/>
          <a:stretch>
            <a:fillRect/>
          </a:stretch>
        </p:blipFill>
        <p:spPr>
          <a:xfrm>
            <a:off x="2057400" y="1429941"/>
            <a:ext cx="10515600" cy="5846802"/>
          </a:xfrm>
          <a:prstGeom prst="rect">
            <a:avLst/>
          </a:prstGeom>
        </p:spPr>
      </p:pic>
      <p:sp>
        <p:nvSpPr>
          <p:cNvPr id="5" name="Text 2"/>
          <p:cNvSpPr/>
          <p:nvPr/>
        </p:nvSpPr>
        <p:spPr>
          <a:xfrm>
            <a:off x="2057400" y="7391876"/>
            <a:ext cx="10515600" cy="407670"/>
          </a:xfrm>
          <a:prstGeom prst="rect">
            <a:avLst/>
          </a:prstGeom>
          <a:noFill/>
          <a:ln/>
        </p:spPr>
        <p:txBody>
          <a:bodyPr wrap="square" lIns="0" tIns="0" rIns="0" bIns="0" rtlCol="0" anchor="t"/>
          <a:lstStyle/>
          <a:p>
            <a:pPr algn="l" indent="0" marL="0">
              <a:lnSpc>
                <a:spcPts val="1600"/>
              </a:lnSpc>
              <a:buNone/>
            </a:pPr>
            <a:r>
              <a:rPr lang="en-US" sz="1200" dirty="0">
                <a:solidFill>
                  <a:srgbClr val="55575A"/>
                </a:solidFill>
                <a:latin typeface="Roboto Condensed" pitchFamily="34" charset="0"/>
                <a:ea typeface="Roboto Condensed" pitchFamily="34" charset="-122"/>
                <a:cs typeface="Roboto Condensed" pitchFamily="34" charset="-120"/>
              </a:rPr>
              <a:t>The above figure illustrates the Data Control Center, which serves as the administrative interface of the system. This module provides a comprehensive view of system-level metrics, including active content nodes, user affinity scores, and high-risk features based on decay behavior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1935123" y="498991"/>
            <a:ext cx="4977527" cy="487204"/>
          </a:xfrm>
          <a:prstGeom prst="rect">
            <a:avLst/>
          </a:prstGeom>
          <a:noFill/>
          <a:ln/>
        </p:spPr>
        <p:txBody>
          <a:bodyPr wrap="none" lIns="0" tIns="0" rIns="0" bIns="0" rtlCol="0" anchor="t"/>
          <a:lstStyle/>
          <a:p>
            <a:pPr algn="l" indent="0" marL="0">
              <a:lnSpc>
                <a:spcPts val="3800"/>
              </a:lnSpc>
              <a:buNone/>
            </a:pPr>
            <a:r>
              <a:rPr lang="en-US" sz="3050" b="1" dirty="0">
                <a:solidFill>
                  <a:srgbClr val="0C0D0F"/>
                </a:solidFill>
                <a:latin typeface="Hubot Sans Bold" pitchFamily="34" charset="0"/>
                <a:ea typeface="Hubot Sans Bold" pitchFamily="34" charset="-122"/>
                <a:cs typeface="Hubot Sans Bold" pitchFamily="34" charset="-120"/>
              </a:rPr>
              <a:t>STREAMING PLATFORM</a:t>
            </a:r>
            <a:endParaRPr lang="en-US" sz="3050" dirty="0"/>
          </a:p>
        </p:txBody>
      </p:sp>
      <p:pic>
        <p:nvPicPr>
          <p:cNvPr id="3" name="Image 0" descr="preencoded.png">    </p:cNvPr>
          <p:cNvPicPr>
            <a:picLocks noChangeAspect="1"/>
          </p:cNvPicPr>
          <p:nvPr/>
        </p:nvPicPr>
        <p:blipFill>
          <a:blip r:embed="rId1"/>
          <a:stretch>
            <a:fillRect/>
          </a:stretch>
        </p:blipFill>
        <p:spPr>
          <a:xfrm>
            <a:off x="1935123" y="1200507"/>
            <a:ext cx="10760035" cy="5988368"/>
          </a:xfrm>
          <a:prstGeom prst="rect">
            <a:avLst/>
          </a:prstGeom>
        </p:spPr>
      </p:pic>
      <p:sp>
        <p:nvSpPr>
          <p:cNvPr id="4" name="Text 1"/>
          <p:cNvSpPr/>
          <p:nvPr/>
        </p:nvSpPr>
        <p:spPr>
          <a:xfrm>
            <a:off x="1935123" y="7309485"/>
            <a:ext cx="10760035" cy="421005"/>
          </a:xfrm>
          <a:prstGeom prst="rect">
            <a:avLst/>
          </a:prstGeom>
          <a:noFill/>
          <a:ln/>
        </p:spPr>
        <p:txBody>
          <a:bodyPr wrap="square" lIns="0" tIns="0" rIns="0" bIns="0" rtlCol="0" anchor="t"/>
          <a:lstStyle/>
          <a:p>
            <a:pPr algn="l" indent="0" marL="0">
              <a:lnSpc>
                <a:spcPts val="1650"/>
              </a:lnSpc>
              <a:buNone/>
            </a:pPr>
            <a:r>
              <a:rPr lang="en-US" sz="1200" dirty="0">
                <a:solidFill>
                  <a:srgbClr val="55575A"/>
                </a:solidFill>
                <a:latin typeface="Roboto Condensed" pitchFamily="34" charset="0"/>
                <a:ea typeface="Roboto Condensed" pitchFamily="34" charset="-122"/>
                <a:cs typeface="Roboto Condensed" pitchFamily="34" charset="-120"/>
              </a:rPr>
              <a:t>The above figure demonstrates the user interaction interface where content is presented along with feedback options such as “Like” and “Pass.” These interactions serve as explicit behavioral signals that are captured by the system in real time.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2026-04-19T11:15:25Z</dcterms:created>
  <dcterms:modified xsi:type="dcterms:W3CDTF">2026-04-19T11:15:25Z</dcterms:modified>
</cp:coreProperties>
</file>