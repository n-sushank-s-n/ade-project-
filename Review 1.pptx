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4630400" cy="8229600"/>
  <p:notesSz cx="8229600" cy="14630400"/>
  <p:embeddedFontLst>
    <p:embeddedFont>
      <p:font typeface="Inconsolata" panose="020F0502020204030204" pitchFamily="2" charset="0"/>
      <p:regular r:id="rId12"/>
    </p:embeddedFont>
    <p:embeddedFont>
      <p:font typeface="Montserrat Black" panose="020F0502020204030204" pitchFamily="2" charset="0"/>
      <p:regular r:id="rId1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1" d="100"/>
          <a:sy n="81" d="100"/>
        </p:scale>
        <p:origin x="101" y="1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30390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8ECE4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8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93790" y="1900595"/>
            <a:ext cx="7556421" cy="2126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Personal Data Expiry Pipeline: Dynamic Data Management</a:t>
            </a:r>
            <a:endParaRPr lang="en-US" sz="4450" dirty="0"/>
          </a:p>
        </p:txBody>
      </p:sp>
      <p:sp>
        <p:nvSpPr>
          <p:cNvPr id="4" name="Text 1"/>
          <p:cNvSpPr/>
          <p:nvPr/>
        </p:nvSpPr>
        <p:spPr>
          <a:xfrm>
            <a:off x="793790" y="4367093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Course:</a:t>
            </a: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Advanced Data Engineering (J-Component)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793790" y="4985147"/>
            <a:ext cx="7556421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Faculty:</a:t>
            </a: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Prof. Siva Kumar V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793790" y="5603200"/>
            <a:ext cx="7556421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Team Members:</a:t>
            </a: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Koushik J (22MID0235), Siva sharan U (22MID0345</a:t>
            </a:r>
            <a:r>
              <a:rPr lang="en-US" sz="175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), N.Sushank </a:t>
            </a: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S N (22MID0348)</a:t>
            </a:r>
            <a:endParaRPr lang="en-US" sz="1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31362" y="549831"/>
            <a:ext cx="7854077" cy="11518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500"/>
              </a:lnSpc>
              <a:buNone/>
            </a:pPr>
            <a:r>
              <a:rPr lang="en-US" sz="36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 Problem: Indefinite Data Retention</a:t>
            </a:r>
            <a:endParaRPr lang="en-US" sz="3600" dirty="0"/>
          </a:p>
        </p:txBody>
      </p:sp>
      <p:sp>
        <p:nvSpPr>
          <p:cNvPr id="4" name="Shape 1"/>
          <p:cNvSpPr/>
          <p:nvPr/>
        </p:nvSpPr>
        <p:spPr>
          <a:xfrm>
            <a:off x="6131362" y="1926193"/>
            <a:ext cx="7854077" cy="1326118"/>
          </a:xfrm>
          <a:prstGeom prst="roundRect">
            <a:avLst>
              <a:gd name="adj" fmla="val 8274"/>
            </a:avLst>
          </a:prstGeom>
          <a:solidFill>
            <a:srgbClr val="F8ECE4"/>
          </a:solidFill>
          <a:ln w="22860">
            <a:solidFill>
              <a:srgbClr val="151617"/>
            </a:solidFill>
            <a:prstDash val="solid"/>
          </a:ln>
          <a:effectLst>
            <a:outerShdw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2"/>
          <p:cNvSpPr/>
          <p:nvPr/>
        </p:nvSpPr>
        <p:spPr>
          <a:xfrm>
            <a:off x="6108502" y="1926193"/>
            <a:ext cx="91440" cy="1326118"/>
          </a:xfrm>
          <a:prstGeom prst="roundRect">
            <a:avLst>
              <a:gd name="adj" fmla="val 10000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6" name="Text 3"/>
          <p:cNvSpPr/>
          <p:nvPr/>
        </p:nvSpPr>
        <p:spPr>
          <a:xfrm>
            <a:off x="6406991" y="2133243"/>
            <a:ext cx="2303621" cy="2878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Stale Influence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6406991" y="2510909"/>
            <a:ext cx="7371398" cy="534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User activities stored indefinitely cause outdated data to heavily influence system behavior, leading to inaccurate predictions.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131362" y="3401973"/>
            <a:ext cx="7854077" cy="1326118"/>
          </a:xfrm>
          <a:prstGeom prst="roundRect">
            <a:avLst>
              <a:gd name="adj" fmla="val 8274"/>
            </a:avLst>
          </a:prstGeom>
          <a:solidFill>
            <a:srgbClr val="F8ECE4"/>
          </a:solidFill>
          <a:ln w="22860">
            <a:solidFill>
              <a:srgbClr val="151617"/>
            </a:solidFill>
            <a:prstDash val="solid"/>
          </a:ln>
          <a:effectLst>
            <a:outerShdw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6"/>
          <p:cNvSpPr/>
          <p:nvPr/>
        </p:nvSpPr>
        <p:spPr>
          <a:xfrm>
            <a:off x="6108502" y="3401973"/>
            <a:ext cx="91440" cy="1326118"/>
          </a:xfrm>
          <a:prstGeom prst="roundRect">
            <a:avLst>
              <a:gd name="adj" fmla="val 10000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6406991" y="3609023"/>
            <a:ext cx="2696289" cy="2878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Degraded Experience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6991" y="3986689"/>
            <a:ext cx="7371398" cy="534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Incorrect recommendations and irrelevant notifications frustrate users, reducing engagement and satisfaction.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6131362" y="4877753"/>
            <a:ext cx="7854077" cy="1326118"/>
          </a:xfrm>
          <a:prstGeom prst="roundRect">
            <a:avLst>
              <a:gd name="adj" fmla="val 8274"/>
            </a:avLst>
          </a:prstGeom>
          <a:solidFill>
            <a:srgbClr val="F8ECE4"/>
          </a:solidFill>
          <a:ln w="22860">
            <a:solidFill>
              <a:srgbClr val="151617"/>
            </a:solidFill>
            <a:prstDash val="solid"/>
          </a:ln>
          <a:effectLst>
            <a:outerShdw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3" name="Shape 10"/>
          <p:cNvSpPr/>
          <p:nvPr/>
        </p:nvSpPr>
        <p:spPr>
          <a:xfrm>
            <a:off x="6108502" y="4877753"/>
            <a:ext cx="91440" cy="1326118"/>
          </a:xfrm>
          <a:prstGeom prst="roundRect">
            <a:avLst>
              <a:gd name="adj" fmla="val 10000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6406991" y="5084802"/>
            <a:ext cx="2303621" cy="2878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Privacy Concerns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406991" y="5462468"/>
            <a:ext cx="7371398" cy="534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Keeping personal data forever raises significant privacy and security risks for both users and organizations.</a:t>
            </a:r>
            <a:endParaRPr lang="en-US" sz="1450" dirty="0"/>
          </a:p>
        </p:txBody>
      </p:sp>
      <p:sp>
        <p:nvSpPr>
          <p:cNvPr id="16" name="Shape 13"/>
          <p:cNvSpPr/>
          <p:nvPr/>
        </p:nvSpPr>
        <p:spPr>
          <a:xfrm>
            <a:off x="6131362" y="6353532"/>
            <a:ext cx="7854077" cy="1326118"/>
          </a:xfrm>
          <a:prstGeom prst="roundRect">
            <a:avLst>
              <a:gd name="adj" fmla="val 8274"/>
            </a:avLst>
          </a:prstGeom>
          <a:solidFill>
            <a:srgbClr val="F8ECE4"/>
          </a:solidFill>
          <a:ln w="22860">
            <a:solidFill>
              <a:srgbClr val="151617"/>
            </a:solidFill>
            <a:prstDash val="solid"/>
          </a:ln>
          <a:effectLst>
            <a:outerShdw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4"/>
          <p:cNvSpPr/>
          <p:nvPr/>
        </p:nvSpPr>
        <p:spPr>
          <a:xfrm>
            <a:off x="6108502" y="6353532"/>
            <a:ext cx="91440" cy="1326118"/>
          </a:xfrm>
          <a:prstGeom prst="roundRect">
            <a:avLst>
              <a:gd name="adj" fmla="val 10000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/>
          <p:nvPr/>
        </p:nvSpPr>
        <p:spPr>
          <a:xfrm>
            <a:off x="6406991" y="6560582"/>
            <a:ext cx="2303621" cy="2878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Rigid Systems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6991" y="6938248"/>
            <a:ext cx="7371398" cy="534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Fixed data deletion periods fail because they do not align with real, dynamic user behavior patterns.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987981"/>
            <a:ext cx="10772061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 Abstract: Dynamic Data Expiry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292072"/>
            <a:ext cx="8284131" cy="469427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638943" y="2541151"/>
            <a:ext cx="4205168" cy="21774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Our system revolutionizes personal data management by introducing </a:t>
            </a:r>
            <a:r>
              <a:rPr lang="en-US" sz="1750" b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dynamic expiry</a:t>
            </a: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. It tracks real-time behavior signals and applies advanced time-decay logic to ensure data relevance.</a:t>
            </a:r>
            <a:endParaRPr lang="en-US" sz="1750" dirty="0"/>
          </a:p>
        </p:txBody>
      </p:sp>
      <p:sp>
        <p:nvSpPr>
          <p:cNvPr id="5" name="Text 2"/>
          <p:cNvSpPr/>
          <p:nvPr/>
        </p:nvSpPr>
        <p:spPr>
          <a:xfrm>
            <a:off x="9638943" y="4922639"/>
            <a:ext cx="4205168" cy="181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Data is dynamically adapted based on continuous user interactions, rather than static rules. This creates a truly adaptive data management system that evolves with user preferences.</a:t>
            </a:r>
            <a:endParaRPr lang="en-US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646390"/>
            <a:ext cx="5670590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Core Objectives</a:t>
            </a:r>
            <a:endParaRPr lang="en-US" sz="4450" dirty="0"/>
          </a:p>
        </p:txBody>
      </p:sp>
      <p:sp>
        <p:nvSpPr>
          <p:cNvPr id="3" name="Shape 1"/>
          <p:cNvSpPr/>
          <p:nvPr/>
        </p:nvSpPr>
        <p:spPr>
          <a:xfrm>
            <a:off x="793790" y="1808798"/>
            <a:ext cx="4196358" cy="2955250"/>
          </a:xfrm>
          <a:prstGeom prst="roundRect">
            <a:avLst>
              <a:gd name="adj" fmla="val 309"/>
            </a:avLst>
          </a:prstGeom>
          <a:solidFill>
            <a:srgbClr val="F8ECE4"/>
          </a:solidFill>
          <a:ln w="7620">
            <a:solidFill>
              <a:srgbClr val="151617"/>
            </a:solidFill>
            <a:prstDash val="solid"/>
          </a:ln>
          <a:effectLst>
            <a:outerShdw dist="2921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1028224" y="2043232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5390" y="2230279"/>
            <a:ext cx="306110" cy="30611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8224" y="2950488"/>
            <a:ext cx="3338989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Dynamic Expiry Logic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1028224" y="3440906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Assign expiry logic based on behavioral relevance rather than fixed time periods.</a:t>
            </a:r>
            <a:endParaRPr lang="en-US" sz="1750" dirty="0"/>
          </a:p>
        </p:txBody>
      </p:sp>
      <p:sp>
        <p:nvSpPr>
          <p:cNvPr id="8" name="Shape 5"/>
          <p:cNvSpPr/>
          <p:nvPr/>
        </p:nvSpPr>
        <p:spPr>
          <a:xfrm>
            <a:off x="5216962" y="1808798"/>
            <a:ext cx="4196358" cy="2955250"/>
          </a:xfrm>
          <a:prstGeom prst="roundRect">
            <a:avLst>
              <a:gd name="adj" fmla="val 309"/>
            </a:avLst>
          </a:prstGeom>
          <a:solidFill>
            <a:srgbClr val="F8ECE4"/>
          </a:solidFill>
          <a:ln w="7620">
            <a:solidFill>
              <a:srgbClr val="151617"/>
            </a:solidFill>
            <a:prstDash val="solid"/>
          </a:ln>
          <a:effectLst>
            <a:outerShdw dist="2921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6"/>
          <p:cNvSpPr/>
          <p:nvPr/>
        </p:nvSpPr>
        <p:spPr>
          <a:xfrm>
            <a:off x="5451396" y="2043232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38562" y="2230279"/>
            <a:ext cx="306110" cy="30611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51396" y="2950488"/>
            <a:ext cx="308312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Behavioral Tracking</a:t>
            </a:r>
            <a:endParaRPr lang="en-US" sz="2200" dirty="0"/>
          </a:p>
        </p:txBody>
      </p:sp>
      <p:sp>
        <p:nvSpPr>
          <p:cNvPr id="12" name="Text 8"/>
          <p:cNvSpPr/>
          <p:nvPr/>
        </p:nvSpPr>
        <p:spPr>
          <a:xfrm>
            <a:off x="5451396" y="3440906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Update user preferences actively from recent interactions and behaviors.</a:t>
            </a:r>
            <a:endParaRPr lang="en-US" sz="1750" dirty="0"/>
          </a:p>
        </p:txBody>
      </p:sp>
      <p:sp>
        <p:nvSpPr>
          <p:cNvPr id="13" name="Shape 9"/>
          <p:cNvSpPr/>
          <p:nvPr/>
        </p:nvSpPr>
        <p:spPr>
          <a:xfrm>
            <a:off x="9640133" y="1808798"/>
            <a:ext cx="4196358" cy="2955250"/>
          </a:xfrm>
          <a:prstGeom prst="roundRect">
            <a:avLst>
              <a:gd name="adj" fmla="val 309"/>
            </a:avLst>
          </a:prstGeom>
          <a:solidFill>
            <a:srgbClr val="F8ECE4"/>
          </a:solidFill>
          <a:ln w="7620">
            <a:solidFill>
              <a:srgbClr val="151617"/>
            </a:solidFill>
            <a:prstDash val="solid"/>
          </a:ln>
          <a:effectLst>
            <a:outerShdw dist="2921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0"/>
          <p:cNvSpPr/>
          <p:nvPr/>
        </p:nvSpPr>
        <p:spPr>
          <a:xfrm>
            <a:off x="9874568" y="2043232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061734" y="2230279"/>
            <a:ext cx="306110" cy="30611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874568" y="2950488"/>
            <a:ext cx="3635693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Time-Decay Algorithms</a:t>
            </a:r>
            <a:endParaRPr lang="en-US" sz="2200" dirty="0"/>
          </a:p>
        </p:txBody>
      </p:sp>
      <p:sp>
        <p:nvSpPr>
          <p:cNvPr id="17" name="Text 12"/>
          <p:cNvSpPr/>
          <p:nvPr/>
        </p:nvSpPr>
        <p:spPr>
          <a:xfrm>
            <a:off x="9874568" y="3440906"/>
            <a:ext cx="3727490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Reduce the influence of old data unless reinforced by new behavior patterns.</a:t>
            </a:r>
            <a:endParaRPr lang="en-US" sz="1750" dirty="0"/>
          </a:p>
        </p:txBody>
      </p:sp>
      <p:sp>
        <p:nvSpPr>
          <p:cNvPr id="18" name="Shape 13"/>
          <p:cNvSpPr/>
          <p:nvPr/>
        </p:nvSpPr>
        <p:spPr>
          <a:xfrm>
            <a:off x="793790" y="4990862"/>
            <a:ext cx="6407944" cy="2592348"/>
          </a:xfrm>
          <a:prstGeom prst="roundRect">
            <a:avLst>
              <a:gd name="adj" fmla="val 353"/>
            </a:avLst>
          </a:prstGeom>
          <a:solidFill>
            <a:srgbClr val="F8ECE4"/>
          </a:solidFill>
          <a:ln w="7620">
            <a:solidFill>
              <a:srgbClr val="151617"/>
            </a:solidFill>
            <a:prstDash val="solid"/>
          </a:ln>
          <a:effectLst>
            <a:outerShdw dist="2921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4"/>
          <p:cNvSpPr/>
          <p:nvPr/>
        </p:nvSpPr>
        <p:spPr>
          <a:xfrm>
            <a:off x="1028224" y="5225296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5390" y="5412343"/>
            <a:ext cx="306110" cy="30611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28224" y="6132552"/>
            <a:ext cx="306324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Tiered Data Storage</a:t>
            </a:r>
            <a:endParaRPr lang="en-US" sz="2200" dirty="0"/>
          </a:p>
        </p:txBody>
      </p:sp>
      <p:sp>
        <p:nvSpPr>
          <p:cNvPr id="22" name="Text 16"/>
          <p:cNvSpPr/>
          <p:nvPr/>
        </p:nvSpPr>
        <p:spPr>
          <a:xfrm>
            <a:off x="1028224" y="6622971"/>
            <a:ext cx="593907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Organize data intelligently into Hot, Warm, Cold, and Delete layers based on relevance.</a:t>
            </a:r>
            <a:endParaRPr lang="en-US" sz="1750" dirty="0"/>
          </a:p>
        </p:txBody>
      </p:sp>
      <p:sp>
        <p:nvSpPr>
          <p:cNvPr id="23" name="Shape 17"/>
          <p:cNvSpPr/>
          <p:nvPr/>
        </p:nvSpPr>
        <p:spPr>
          <a:xfrm>
            <a:off x="7428548" y="4990862"/>
            <a:ext cx="6407944" cy="2592348"/>
          </a:xfrm>
          <a:prstGeom prst="roundRect">
            <a:avLst>
              <a:gd name="adj" fmla="val 353"/>
            </a:avLst>
          </a:prstGeom>
          <a:solidFill>
            <a:srgbClr val="F8ECE4"/>
          </a:solidFill>
          <a:ln w="7620">
            <a:solidFill>
              <a:srgbClr val="151617"/>
            </a:solidFill>
            <a:prstDash val="solid"/>
          </a:ln>
          <a:effectLst>
            <a:outerShdw dist="2921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18"/>
          <p:cNvSpPr/>
          <p:nvPr/>
        </p:nvSpPr>
        <p:spPr>
          <a:xfrm>
            <a:off x="7662982" y="5225296"/>
            <a:ext cx="680442" cy="680442"/>
          </a:xfrm>
          <a:prstGeom prst="roundRect">
            <a:avLst>
              <a:gd name="adj" fmla="val 13436980"/>
            </a:avLst>
          </a:prstGeom>
          <a:solidFill>
            <a:srgbClr val="15161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50148" y="5412343"/>
            <a:ext cx="306110" cy="30611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662982" y="6132552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Query Filtering</a:t>
            </a:r>
            <a:endParaRPr lang="en-US" sz="2200" dirty="0"/>
          </a:p>
        </p:txBody>
      </p:sp>
      <p:sp>
        <p:nvSpPr>
          <p:cNvPr id="27" name="Text 20"/>
          <p:cNvSpPr/>
          <p:nvPr/>
        </p:nvSpPr>
        <p:spPr>
          <a:xfrm>
            <a:off x="7662982" y="6622971"/>
            <a:ext cx="5939076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Exclude expired data to maintain pinpoint accuracy in recommendations and queries.</a:t>
            </a:r>
            <a:endParaRPr lang="en-US" sz="1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12351" y="551855"/>
            <a:ext cx="6740128" cy="5980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4700"/>
              </a:lnSpc>
              <a:buNone/>
            </a:pPr>
            <a:r>
              <a:rPr lang="en-US" sz="37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System Architecture Flow</a:t>
            </a:r>
            <a:endParaRPr lang="en-US" sz="37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351" y="1472803"/>
            <a:ext cx="956905" cy="114823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830705" y="1664137"/>
            <a:ext cx="2392323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Data Collection</a:t>
            </a:r>
            <a:endParaRPr lang="en-US" sz="1850" dirty="0"/>
          </a:p>
        </p:txBody>
      </p:sp>
      <p:sp>
        <p:nvSpPr>
          <p:cNvPr id="5" name="Text 2"/>
          <p:cNvSpPr/>
          <p:nvPr/>
        </p:nvSpPr>
        <p:spPr>
          <a:xfrm>
            <a:off x="1830705" y="2059900"/>
            <a:ext cx="12087225" cy="282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Captures searches, watches, clicks, and purchases via user activity logs.</a:t>
            </a:r>
            <a:endParaRPr lang="en-US" sz="15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51" y="2621042"/>
            <a:ext cx="956905" cy="1148239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830705" y="2812375"/>
            <a:ext cx="2392323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ETL Pipeline</a:t>
            </a:r>
            <a:endParaRPr lang="en-US" sz="1850" dirty="0"/>
          </a:p>
        </p:txBody>
      </p:sp>
      <p:sp>
        <p:nvSpPr>
          <p:cNvPr id="8" name="Text 4"/>
          <p:cNvSpPr/>
          <p:nvPr/>
        </p:nvSpPr>
        <p:spPr>
          <a:xfrm>
            <a:off x="1830705" y="3208139"/>
            <a:ext cx="12087225" cy="282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Extracts, cleans, transforms, and loads behavioral data for processing.</a:t>
            </a:r>
            <a:endParaRPr lang="en-US" sz="15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351" y="3769281"/>
            <a:ext cx="956905" cy="1148239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830705" y="3960614"/>
            <a:ext cx="3453765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Relevance &amp; Decay Engine</a:t>
            </a:r>
            <a:endParaRPr lang="en-US" sz="1850" dirty="0"/>
          </a:p>
        </p:txBody>
      </p:sp>
      <p:sp>
        <p:nvSpPr>
          <p:cNvPr id="11" name="Text 6"/>
          <p:cNvSpPr/>
          <p:nvPr/>
        </p:nvSpPr>
        <p:spPr>
          <a:xfrm>
            <a:off x="1830705" y="4356378"/>
            <a:ext cx="12087225" cy="282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Analyses behaviors using time-decay algorithms to sideline old data.</a:t>
            </a:r>
            <a:endParaRPr lang="en-US" sz="15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351" y="4917519"/>
            <a:ext cx="956905" cy="114823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830705" y="5108853"/>
            <a:ext cx="2994065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Reinforcement Tracker</a:t>
            </a:r>
            <a:endParaRPr lang="en-US" sz="1850" dirty="0"/>
          </a:p>
        </p:txBody>
      </p:sp>
      <p:sp>
        <p:nvSpPr>
          <p:cNvPr id="14" name="Text 8"/>
          <p:cNvSpPr/>
          <p:nvPr/>
        </p:nvSpPr>
        <p:spPr>
          <a:xfrm>
            <a:off x="1830705" y="5504617"/>
            <a:ext cx="12087225" cy="282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Identifies and reinforces repeated user behaviors to keep relevant data alive.</a:t>
            </a:r>
            <a:endParaRPr lang="en-US" sz="15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2351" y="6065758"/>
            <a:ext cx="956905" cy="1148239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830705" y="6257092"/>
            <a:ext cx="2392323" cy="2989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0"/>
              </a:lnSpc>
              <a:buNone/>
            </a:pPr>
            <a:r>
              <a:rPr lang="en-US" sz="18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Query Engine</a:t>
            </a:r>
            <a:endParaRPr lang="en-US" sz="1850" dirty="0"/>
          </a:p>
        </p:txBody>
      </p:sp>
      <p:sp>
        <p:nvSpPr>
          <p:cNvPr id="17" name="Text 10"/>
          <p:cNvSpPr/>
          <p:nvPr/>
        </p:nvSpPr>
        <p:spPr>
          <a:xfrm>
            <a:off x="1830705" y="6652855"/>
            <a:ext cx="12087225" cy="282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Filters out expired traits and routes relevant data to consumer applications.</a:t>
            </a:r>
            <a:endParaRPr lang="en-US" sz="1500" dirty="0"/>
          </a:p>
        </p:txBody>
      </p:sp>
      <p:sp>
        <p:nvSpPr>
          <p:cNvPr id="18" name="Text 11"/>
          <p:cNvSpPr/>
          <p:nvPr/>
        </p:nvSpPr>
        <p:spPr>
          <a:xfrm>
            <a:off x="712351" y="7395567"/>
            <a:ext cx="13205579" cy="2821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Consumer applications include Streaming platforms, Job Portals, and E-Commerce systems.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51340" y="326946"/>
            <a:ext cx="6527721" cy="711981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80172" y="7537133"/>
            <a:ext cx="2923937" cy="36552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792004"/>
            <a:ext cx="13042821" cy="14175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 Innovative Solution: Behavior-Based Expiry</a:t>
            </a:r>
            <a:endParaRPr lang="en-US" sz="4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663190"/>
            <a:ext cx="2194560" cy="2194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93790" y="5141238"/>
            <a:ext cx="3048000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Behavioral Relevance Tracking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793790" y="5985986"/>
            <a:ext cx="3048000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Continuously assesses data importance based on shifting user patterns and preferences.</a:t>
            </a:r>
            <a:endParaRPr lang="en-US" sz="175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5278" y="2663190"/>
            <a:ext cx="2194560" cy="2194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125278" y="5141238"/>
            <a:ext cx="304811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Automatic Data Degradation</a:t>
            </a:r>
            <a:endParaRPr lang="en-US" sz="2200" dirty="0"/>
          </a:p>
        </p:txBody>
      </p:sp>
      <p:sp>
        <p:nvSpPr>
          <p:cNvPr id="8" name="Text 4"/>
          <p:cNvSpPr/>
          <p:nvPr/>
        </p:nvSpPr>
        <p:spPr>
          <a:xfrm>
            <a:off x="4125278" y="5985986"/>
            <a:ext cx="304811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Gradually reduces the influence of older data using mathematical time-decay functions.</a:t>
            </a:r>
            <a:endParaRPr lang="en-US" sz="17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6884" y="2663190"/>
            <a:ext cx="2194560" cy="219456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456884" y="5141238"/>
            <a:ext cx="304811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Reinforcement-Based Survival</a:t>
            </a:r>
            <a:endParaRPr lang="en-US" sz="2200" dirty="0"/>
          </a:p>
        </p:txBody>
      </p:sp>
      <p:sp>
        <p:nvSpPr>
          <p:cNvPr id="11" name="Text 6"/>
          <p:cNvSpPr/>
          <p:nvPr/>
        </p:nvSpPr>
        <p:spPr>
          <a:xfrm>
            <a:off x="7456884" y="5985986"/>
            <a:ext cx="304811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Retains data only if tied to repeated, ongoing user behaviors and interactions.</a:t>
            </a:r>
            <a:endParaRPr lang="en-US" sz="175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88491" y="2663190"/>
            <a:ext cx="2194560" cy="219456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788491" y="5141238"/>
            <a:ext cx="304811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Tiered Storage Efficiency</a:t>
            </a:r>
            <a:endParaRPr lang="en-US" sz="2200" dirty="0"/>
          </a:p>
        </p:txBody>
      </p:sp>
      <p:sp>
        <p:nvSpPr>
          <p:cNvPr id="14" name="Text 8"/>
          <p:cNvSpPr/>
          <p:nvPr/>
        </p:nvSpPr>
        <p:spPr>
          <a:xfrm>
            <a:off x="10788491" y="5985986"/>
            <a:ext cx="3048119" cy="1451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Moves data through Hot, Warm, and Cold layers based on its freshness score.</a:t>
            </a:r>
            <a:endParaRPr lang="en-US" sz="1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93790" y="1272659"/>
            <a:ext cx="11294745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50"/>
              </a:lnSpc>
              <a:buNone/>
            </a:pPr>
            <a:r>
              <a:rPr lang="en-US" sz="44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Literature Survey &amp; The Missing Link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793790" y="2548414"/>
            <a:ext cx="5309949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300"/>
              </a:lnSpc>
              <a:buNone/>
            </a:pPr>
            <a:r>
              <a:rPr lang="en-US" sz="26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Current Research Landscape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793790" y="3200519"/>
            <a:ext cx="760428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Recent studies focus heavily on </a:t>
            </a:r>
            <a:r>
              <a:rPr lang="en-US" sz="1750" b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Time-Decay Collaborative Filtering (2024)</a:t>
            </a: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 and </a:t>
            </a:r>
            <a:r>
              <a:rPr lang="en-US" sz="1750" b="1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Temporal Latent Sequential Networks (2021)</a:t>
            </a: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.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793790" y="4130397"/>
            <a:ext cx="7604284" cy="7258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Existing models excel at capturing time-based preference changes and temporal patterns in user behavior.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793790" y="5083016"/>
            <a:ext cx="2981920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The Behavioral Gap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93790" y="5664160"/>
            <a:ext cx="7604284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Most methods rely purely on time weighting. They severely lack the behavioral reinforcement mechanisms required to accurately model complex user patterns over time.</a:t>
            </a:r>
            <a:endParaRPr lang="en-US" sz="17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9096" y="3255169"/>
            <a:ext cx="4885015" cy="276808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43744" y="524232"/>
            <a:ext cx="7829312" cy="1173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600"/>
              </a:lnSpc>
              <a:buNone/>
            </a:pPr>
            <a:r>
              <a:rPr lang="en-US" sz="365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Conclusion &amp; Project Outcomes</a:t>
            </a:r>
            <a:endParaRPr lang="en-US" sz="3650" dirty="0"/>
          </a:p>
        </p:txBody>
      </p:sp>
      <p:sp>
        <p:nvSpPr>
          <p:cNvPr id="4" name="Shape 1"/>
          <p:cNvSpPr/>
          <p:nvPr/>
        </p:nvSpPr>
        <p:spPr>
          <a:xfrm>
            <a:off x="6143744" y="1931432"/>
            <a:ext cx="7829312" cy="1326833"/>
          </a:xfrm>
          <a:prstGeom prst="roundRect">
            <a:avLst>
              <a:gd name="adj" fmla="val 689"/>
            </a:avLst>
          </a:prstGeom>
          <a:solidFill>
            <a:srgbClr val="F8ECE4"/>
          </a:solidFill>
          <a:ln w="7620">
            <a:solidFill>
              <a:srgbClr val="151617"/>
            </a:solidFill>
            <a:prstDash val="solid"/>
          </a:ln>
          <a:effectLst>
            <a:outerShdw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Text 2"/>
          <p:cNvSpPr/>
          <p:nvPr/>
        </p:nvSpPr>
        <p:spPr>
          <a:xfrm>
            <a:off x="6339126" y="2126813"/>
            <a:ext cx="2523768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Enhanced Accuracy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6339126" y="2513528"/>
            <a:ext cx="7438549" cy="549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Focusing strictly on relevant, recent data drastically improves the precision of recommendations and predictions.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6143744" y="3413760"/>
            <a:ext cx="7829312" cy="1326833"/>
          </a:xfrm>
          <a:prstGeom prst="roundRect">
            <a:avLst>
              <a:gd name="adj" fmla="val 689"/>
            </a:avLst>
          </a:prstGeom>
          <a:solidFill>
            <a:srgbClr val="F8ECE4"/>
          </a:solidFill>
          <a:ln w="7620">
            <a:solidFill>
              <a:srgbClr val="151617"/>
            </a:solidFill>
            <a:prstDash val="solid"/>
          </a:ln>
          <a:effectLst>
            <a:outerShdw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5"/>
          <p:cNvSpPr/>
          <p:nvPr/>
        </p:nvSpPr>
        <p:spPr>
          <a:xfrm>
            <a:off x="6339126" y="3609142"/>
            <a:ext cx="2949654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Better User Experience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6339126" y="3995857"/>
            <a:ext cx="7438549" cy="549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Highly accurate recommendations lead to increased engagement and satisfaction in consumer applications.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143744" y="4896088"/>
            <a:ext cx="7829312" cy="1326833"/>
          </a:xfrm>
          <a:prstGeom prst="roundRect">
            <a:avLst>
              <a:gd name="adj" fmla="val 689"/>
            </a:avLst>
          </a:prstGeom>
          <a:solidFill>
            <a:srgbClr val="F8ECE4"/>
          </a:solidFill>
          <a:ln w="7620">
            <a:solidFill>
              <a:srgbClr val="151617"/>
            </a:solidFill>
            <a:prstDash val="solid"/>
          </a:ln>
          <a:effectLst>
            <a:outerShdw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Text 8"/>
          <p:cNvSpPr/>
          <p:nvPr/>
        </p:nvSpPr>
        <p:spPr>
          <a:xfrm>
            <a:off x="6339126" y="5091470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Data Efficiency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6339126" y="5478185"/>
            <a:ext cx="7438549" cy="549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Automatic expiry significantly reduces server storage needs and cuts operational costs.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6143744" y="6378416"/>
            <a:ext cx="7829312" cy="1326833"/>
          </a:xfrm>
          <a:prstGeom prst="roundRect">
            <a:avLst>
              <a:gd name="adj" fmla="val 689"/>
            </a:avLst>
          </a:prstGeom>
          <a:solidFill>
            <a:srgbClr val="F8ECE4"/>
          </a:solidFill>
          <a:ln w="7620">
            <a:solidFill>
              <a:srgbClr val="151617"/>
            </a:solidFill>
            <a:prstDash val="solid"/>
          </a:ln>
          <a:effectLst>
            <a:outerShdw dist="24130" dir="2700000" algn="bl" rotWithShape="0">
              <a:srgbClr val="151617">
                <a:alpha val="10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6339126" y="6573798"/>
            <a:ext cx="2347912" cy="2934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151617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Upgraded Privacy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6339126" y="6960513"/>
            <a:ext cx="7438549" cy="5493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450" dirty="0">
                <a:solidFill>
                  <a:srgbClr val="151617"/>
                </a:solidFill>
                <a:latin typeface="Inconsolata" pitchFamily="34" charset="0"/>
                <a:ea typeface="Inconsolata" pitchFamily="34" charset="-122"/>
                <a:cs typeface="Inconsolata" pitchFamily="34" charset="-120"/>
              </a:rPr>
              <a:t>Limiting data retention inherently protects user privacy and supports smarter, safer data management practices.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574</Words>
  <Application>Microsoft Office PowerPoint</Application>
  <PresentationFormat>Custom</PresentationFormat>
  <Paragraphs>72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Montserrat Black</vt:lpstr>
      <vt:lpstr>Arial</vt:lpstr>
      <vt:lpstr>Inconsolata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N.Sushank SN</cp:lastModifiedBy>
  <cp:revision>2</cp:revision>
  <dcterms:created xsi:type="dcterms:W3CDTF">2026-04-19T10:58:06Z</dcterms:created>
  <dcterms:modified xsi:type="dcterms:W3CDTF">2026-04-19T11:04:40Z</dcterms:modified>
</cp:coreProperties>
</file>